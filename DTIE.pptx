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Bobby Jones" charset="1" panose="00000000000000000000"/>
      <p:regular r:id="rId23"/>
    </p:embeddedFont>
    <p:embeddedFont>
      <p:font typeface="Bricolage Grotesque Bold" charset="1" panose="020B0605040402000204"/>
      <p:regular r:id="rId24"/>
    </p:embeddedFont>
    <p:embeddedFont>
      <p:font typeface="Glacial Indifference Bold" charset="1" panose="00000800000000000000"/>
      <p:regular r:id="rId25"/>
    </p:embeddedFont>
    <p:embeddedFont>
      <p:font typeface="Glacial Indifference" charset="1" panose="00000000000000000000"/>
      <p:regular r:id="rId26"/>
    </p:embeddedFont>
    <p:embeddedFont>
      <p:font typeface="Codec Pro Bold" charset="1" panose="00000600000000000000"/>
      <p:regular r:id="rId27"/>
    </p:embeddedFont>
    <p:embeddedFont>
      <p:font typeface="Codec Pro" charset="1" panose="00000500000000000000"/>
      <p:regular r:id="rId28"/>
    </p:embeddedFont>
    <p:embeddedFont>
      <p:font typeface="Canva Sans Bold" charset="1" panose="020B0803030501040103"/>
      <p:regular r:id="rId29"/>
    </p:embeddedFont>
    <p:embeddedFont>
      <p:font typeface="Canva Sans" charset="1" panose="020B0503030501040103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jpeg" Type="http://schemas.openxmlformats.org/officeDocument/2006/relationships/image"/><Relationship Id="rId4" Target="../media/image16.jpeg" Type="http://schemas.openxmlformats.org/officeDocument/2006/relationships/image"/><Relationship Id="rId5" Target="../media/image17.jpeg" Type="http://schemas.openxmlformats.org/officeDocument/2006/relationships/image"/><Relationship Id="rId6" Target="../media/image18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20973" y="-429682"/>
            <a:ext cx="19129945" cy="5573182"/>
            <a:chOff x="0" y="0"/>
            <a:chExt cx="5038339" cy="14678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38339" cy="1467834"/>
            </a:xfrm>
            <a:custGeom>
              <a:avLst/>
              <a:gdLst/>
              <a:ahLst/>
              <a:cxnLst/>
              <a:rect r="r" b="b" t="t" l="l"/>
              <a:pathLst>
                <a:path h="1467834" w="5038339">
                  <a:moveTo>
                    <a:pt x="20640" y="0"/>
                  </a:moveTo>
                  <a:lnTo>
                    <a:pt x="5017700" y="0"/>
                  </a:lnTo>
                  <a:cubicBezTo>
                    <a:pt x="5029098" y="0"/>
                    <a:pt x="5038339" y="9241"/>
                    <a:pt x="5038339" y="20640"/>
                  </a:cubicBezTo>
                  <a:lnTo>
                    <a:pt x="5038339" y="1447194"/>
                  </a:lnTo>
                  <a:cubicBezTo>
                    <a:pt x="5038339" y="1458593"/>
                    <a:pt x="5029098" y="1467834"/>
                    <a:pt x="5017700" y="1467834"/>
                  </a:cubicBezTo>
                  <a:lnTo>
                    <a:pt x="20640" y="1467834"/>
                  </a:lnTo>
                  <a:cubicBezTo>
                    <a:pt x="9241" y="1467834"/>
                    <a:pt x="0" y="1458593"/>
                    <a:pt x="0" y="1447194"/>
                  </a:cubicBezTo>
                  <a:lnTo>
                    <a:pt x="0" y="20640"/>
                  </a:lnTo>
                  <a:cubicBezTo>
                    <a:pt x="0" y="9241"/>
                    <a:pt x="9241" y="0"/>
                    <a:pt x="20640" y="0"/>
                  </a:cubicBezTo>
                  <a:close/>
                </a:path>
              </a:pathLst>
            </a:custGeom>
            <a:solidFill>
              <a:srgbClr val="50BA9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38339" cy="1505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14350" y="377040"/>
            <a:ext cx="17259300" cy="3439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4"/>
              </a:lnSpc>
              <a:spcBef>
                <a:spcPct val="0"/>
              </a:spcBef>
            </a:pPr>
            <a:r>
              <a:rPr lang="en-US" sz="6510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Digital Mental Health and Psychological Support System for Students in Higher Education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22024" y="4395470"/>
            <a:ext cx="3043952" cy="1419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DTIE Project</a:t>
            </a:r>
          </a:p>
          <a:p>
            <a:pPr algn="ctr">
              <a:lnSpc>
                <a:spcPts val="5740"/>
              </a:lnSpc>
            </a:pPr>
            <a:r>
              <a:rPr lang="en-US" sz="4100" b="true">
                <a:solidFill>
                  <a:srgbClr val="50BA9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GROUP - 2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35346" y="5955422"/>
            <a:ext cx="5204103" cy="384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5"/>
              </a:lnSpc>
            </a:pPr>
            <a:r>
              <a:rPr lang="en-US" sz="4639" b="true">
                <a:solidFill>
                  <a:srgbClr val="50BA9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Presented by:</a:t>
            </a:r>
          </a:p>
          <a:p>
            <a:pPr algn="l">
              <a:lnSpc>
                <a:spcPts val="4871"/>
              </a:lnSpc>
            </a:pPr>
            <a:r>
              <a:rPr lang="en-US" sz="3479">
                <a:solidFill>
                  <a:srgbClr val="50BA9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K.Greeshma - 2620040163</a:t>
            </a:r>
          </a:p>
          <a:p>
            <a:pPr algn="l">
              <a:lnSpc>
                <a:spcPts val="4871"/>
              </a:lnSpc>
            </a:pPr>
            <a:r>
              <a:rPr lang="en-US" sz="3479">
                <a:solidFill>
                  <a:srgbClr val="50BA9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GLB. Ananya - 2620040168</a:t>
            </a:r>
          </a:p>
          <a:p>
            <a:pPr algn="l">
              <a:lnSpc>
                <a:spcPts val="4871"/>
              </a:lnSpc>
            </a:pPr>
            <a:r>
              <a:rPr lang="en-US" sz="3479">
                <a:solidFill>
                  <a:srgbClr val="50BA9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T. Divya - 2620040079</a:t>
            </a:r>
          </a:p>
          <a:p>
            <a:pPr algn="l">
              <a:lnSpc>
                <a:spcPts val="4871"/>
              </a:lnSpc>
            </a:pPr>
            <a:r>
              <a:rPr lang="en-US" sz="3479">
                <a:solidFill>
                  <a:srgbClr val="50BA9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A. Akshara - 2620030502</a:t>
            </a:r>
          </a:p>
          <a:p>
            <a:pPr algn="l">
              <a:lnSpc>
                <a:spcPts val="4871"/>
              </a:lnSpc>
            </a:pPr>
            <a:r>
              <a:rPr lang="en-US" sz="3479">
                <a:solidFill>
                  <a:srgbClr val="50BA9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Gayatri - 2620040006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32248" y="5974472"/>
            <a:ext cx="4865846" cy="119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3479" b="true">
                <a:solidFill>
                  <a:srgbClr val="50BA9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Under the </a:t>
            </a:r>
            <a:r>
              <a:rPr lang="en-US" sz="3479" b="true">
                <a:solidFill>
                  <a:srgbClr val="50BA9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Guidance of</a:t>
            </a:r>
            <a:r>
              <a:rPr lang="en-US" sz="3479">
                <a:solidFill>
                  <a:srgbClr val="50BA9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</a:t>
            </a:r>
          </a:p>
          <a:p>
            <a:pPr algn="l">
              <a:lnSpc>
                <a:spcPts val="4871"/>
              </a:lnSpc>
            </a:pPr>
            <a:r>
              <a:rPr lang="en-US" sz="3479">
                <a:solidFill>
                  <a:srgbClr val="50BA9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Sudhakar Gudlnarva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9914" y="-429682"/>
            <a:ext cx="17248171" cy="1458382"/>
            <a:chOff x="0" y="0"/>
            <a:chExt cx="4542728" cy="3841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2728" cy="384101"/>
            </a:xfrm>
            <a:custGeom>
              <a:avLst/>
              <a:gdLst/>
              <a:ahLst/>
              <a:cxnLst/>
              <a:rect r="r" b="b" t="t" l="l"/>
              <a:pathLst>
                <a:path h="384101" w="4542728">
                  <a:moveTo>
                    <a:pt x="22892" y="0"/>
                  </a:moveTo>
                  <a:lnTo>
                    <a:pt x="4519837" y="0"/>
                  </a:lnTo>
                  <a:cubicBezTo>
                    <a:pt x="4532479" y="0"/>
                    <a:pt x="4542728" y="10249"/>
                    <a:pt x="4542728" y="22892"/>
                  </a:cubicBezTo>
                  <a:lnTo>
                    <a:pt x="4542728" y="361209"/>
                  </a:lnTo>
                  <a:cubicBezTo>
                    <a:pt x="4542728" y="373852"/>
                    <a:pt x="4532479" y="384101"/>
                    <a:pt x="4519837" y="384101"/>
                  </a:cubicBezTo>
                  <a:lnTo>
                    <a:pt x="22892" y="384101"/>
                  </a:lnTo>
                  <a:cubicBezTo>
                    <a:pt x="10249" y="384101"/>
                    <a:pt x="0" y="373852"/>
                    <a:pt x="0" y="361209"/>
                  </a:cubicBezTo>
                  <a:lnTo>
                    <a:pt x="0" y="22892"/>
                  </a:lnTo>
                  <a:cubicBezTo>
                    <a:pt x="0" y="10249"/>
                    <a:pt x="10249" y="0"/>
                    <a:pt x="22892" y="0"/>
                  </a:cubicBezTo>
                  <a:close/>
                </a:path>
              </a:pathLst>
            </a:custGeom>
            <a:solidFill>
              <a:srgbClr val="50BA9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42728" cy="422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537786" y="3655375"/>
            <a:ext cx="2983230" cy="4114800"/>
          </a:xfrm>
          <a:custGeom>
            <a:avLst/>
            <a:gdLst/>
            <a:ahLst/>
            <a:cxnLst/>
            <a:rect r="r" b="b" t="t" l="l"/>
            <a:pathLst>
              <a:path h="4114800" w="2983230">
                <a:moveTo>
                  <a:pt x="0" y="0"/>
                </a:moveTo>
                <a:lnTo>
                  <a:pt x="2983230" y="0"/>
                </a:lnTo>
                <a:lnTo>
                  <a:pt x="29832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65844" y="2335961"/>
            <a:ext cx="1305243" cy="1500279"/>
          </a:xfrm>
          <a:custGeom>
            <a:avLst/>
            <a:gdLst/>
            <a:ahLst/>
            <a:cxnLst/>
            <a:rect r="r" b="b" t="t" l="l"/>
            <a:pathLst>
              <a:path h="1500279" w="1305243">
                <a:moveTo>
                  <a:pt x="0" y="0"/>
                </a:moveTo>
                <a:lnTo>
                  <a:pt x="1305242" y="0"/>
                </a:lnTo>
                <a:lnTo>
                  <a:pt x="1305242" y="1500278"/>
                </a:lnTo>
                <a:lnTo>
                  <a:pt x="0" y="15002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30755" y="4176469"/>
            <a:ext cx="1440331" cy="1101854"/>
          </a:xfrm>
          <a:custGeom>
            <a:avLst/>
            <a:gdLst/>
            <a:ahLst/>
            <a:cxnLst/>
            <a:rect r="r" b="b" t="t" l="l"/>
            <a:pathLst>
              <a:path h="1101854" w="1440331">
                <a:moveTo>
                  <a:pt x="0" y="0"/>
                </a:moveTo>
                <a:lnTo>
                  <a:pt x="1440331" y="0"/>
                </a:lnTo>
                <a:lnTo>
                  <a:pt x="1440331" y="1101853"/>
                </a:lnTo>
                <a:lnTo>
                  <a:pt x="0" y="11018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48572" y="2540077"/>
            <a:ext cx="1062853" cy="1296163"/>
          </a:xfrm>
          <a:custGeom>
            <a:avLst/>
            <a:gdLst/>
            <a:ahLst/>
            <a:cxnLst/>
            <a:rect r="r" b="b" t="t" l="l"/>
            <a:pathLst>
              <a:path h="1296163" w="1062853">
                <a:moveTo>
                  <a:pt x="0" y="0"/>
                </a:moveTo>
                <a:lnTo>
                  <a:pt x="1062853" y="0"/>
                </a:lnTo>
                <a:lnTo>
                  <a:pt x="1062853" y="1296162"/>
                </a:lnTo>
                <a:lnTo>
                  <a:pt x="0" y="12961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779998" y="4122128"/>
            <a:ext cx="1479302" cy="1590647"/>
          </a:xfrm>
          <a:custGeom>
            <a:avLst/>
            <a:gdLst/>
            <a:ahLst/>
            <a:cxnLst/>
            <a:rect r="r" b="b" t="t" l="l"/>
            <a:pathLst>
              <a:path h="1590647" w="1479302">
                <a:moveTo>
                  <a:pt x="0" y="0"/>
                </a:moveTo>
                <a:lnTo>
                  <a:pt x="1479302" y="0"/>
                </a:lnTo>
                <a:lnTo>
                  <a:pt x="1479302" y="1590647"/>
                </a:lnTo>
                <a:lnTo>
                  <a:pt x="0" y="159064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973499" y="1824517"/>
            <a:ext cx="1572660" cy="1431120"/>
          </a:xfrm>
          <a:custGeom>
            <a:avLst/>
            <a:gdLst/>
            <a:ahLst/>
            <a:cxnLst/>
            <a:rect r="r" b="b" t="t" l="l"/>
            <a:pathLst>
              <a:path h="1431120" w="1572660">
                <a:moveTo>
                  <a:pt x="0" y="0"/>
                </a:moveTo>
                <a:lnTo>
                  <a:pt x="1572660" y="0"/>
                </a:lnTo>
                <a:lnTo>
                  <a:pt x="1572660" y="1431120"/>
                </a:lnTo>
                <a:lnTo>
                  <a:pt x="0" y="143112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20017" y="1458063"/>
            <a:ext cx="9910738" cy="836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2"/>
              </a:lnSpc>
            </a:pPr>
            <a:r>
              <a:rPr lang="en-US" sz="2730" b="true">
                <a:solidFill>
                  <a:srgbClr val="50BA9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What Problem Are We Addressing?</a:t>
            </a:r>
          </a:p>
          <a:p>
            <a:pPr algn="l">
              <a:lnSpc>
                <a:spcPts val="3735"/>
              </a:lnSpc>
            </a:pPr>
            <a:r>
              <a:rPr lang="en-US" sz="241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Students in higher education face multiple pressures that can negatively affect their mental well-being, academic performance, and daily life.</a:t>
            </a:r>
          </a:p>
          <a:p>
            <a:pPr algn="l">
              <a:lnSpc>
                <a:spcPts val="4232"/>
              </a:lnSpc>
            </a:pPr>
            <a:r>
              <a:rPr lang="en-US" sz="2730" b="true">
                <a:solidFill>
                  <a:srgbClr val="50BA9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Major Challenges Faced by Students</a:t>
            </a:r>
          </a:p>
          <a:p>
            <a:pPr algn="l">
              <a:lnSpc>
                <a:spcPts val="3735"/>
              </a:lnSpc>
            </a:pPr>
            <a:r>
              <a:rPr lang="en-US" sz="2410" b="true">
                <a:solidFill>
                  <a:srgbClr val="50BA9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Academic Pressure</a:t>
            </a:r>
          </a:p>
          <a:p>
            <a:pPr algn="l">
              <a:lnSpc>
                <a:spcPts val="3487"/>
              </a:lnSpc>
            </a:pPr>
            <a:r>
              <a:rPr lang="en-US" sz="225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Assignments, examinnations, deadlines, and performance expectations.</a:t>
            </a:r>
          </a:p>
          <a:p>
            <a:pPr algn="l">
              <a:lnSpc>
                <a:spcPts val="3735"/>
              </a:lnSpc>
            </a:pPr>
            <a:r>
              <a:rPr lang="en-US" sz="2410" b="true">
                <a:solidFill>
                  <a:srgbClr val="50BA9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Stress &amp; Anxiety</a:t>
            </a:r>
          </a:p>
          <a:p>
            <a:pPr algn="l">
              <a:lnSpc>
                <a:spcPts val="3487"/>
              </a:lnSpc>
            </a:pPr>
            <a:r>
              <a:rPr lang="en-US" sz="225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Constant worry, pressure, and difficulty managing emotions.</a:t>
            </a:r>
          </a:p>
          <a:p>
            <a:pPr algn="l">
              <a:lnSpc>
                <a:spcPts val="3735"/>
              </a:lnSpc>
            </a:pPr>
            <a:r>
              <a:rPr lang="en-US" sz="2410" b="true">
                <a:solidFill>
                  <a:srgbClr val="50BA9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Loneliness &amp; Isolation</a:t>
            </a:r>
          </a:p>
          <a:p>
            <a:pPr algn="l">
              <a:lnSpc>
                <a:spcPts val="3487"/>
              </a:lnSpc>
            </a:pPr>
            <a:r>
              <a:rPr lang="en-US" sz="225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Difficulty making connections or adjusting to a new environment.</a:t>
            </a:r>
          </a:p>
          <a:p>
            <a:pPr algn="l">
              <a:lnSpc>
                <a:spcPts val="3735"/>
              </a:lnSpc>
            </a:pPr>
            <a:r>
              <a:rPr lang="en-US" sz="2410" b="true">
                <a:solidFill>
                  <a:srgbClr val="50BA9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Burnout</a:t>
            </a:r>
          </a:p>
          <a:p>
            <a:pPr algn="l">
              <a:lnSpc>
                <a:spcPts val="3487"/>
              </a:lnSpc>
            </a:pPr>
            <a:r>
              <a:rPr lang="en-US" sz="225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Physical and emotional exhaustion caused by prolonged stress.</a:t>
            </a:r>
          </a:p>
          <a:p>
            <a:pPr algn="l">
              <a:lnSpc>
                <a:spcPts val="3735"/>
              </a:lnSpc>
            </a:pPr>
            <a:r>
              <a:rPr lang="en-US" sz="2410" b="true">
                <a:solidFill>
                  <a:srgbClr val="50BA9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Stigma Around Mental Health</a:t>
            </a:r>
          </a:p>
          <a:p>
            <a:pPr algn="l">
              <a:lnSpc>
                <a:spcPts val="3487"/>
              </a:lnSpc>
            </a:pPr>
            <a:r>
              <a:rPr lang="en-US" sz="225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Fear of judgement may prevent students from asking help.</a:t>
            </a:r>
          </a:p>
          <a:p>
            <a:pPr algn="l">
              <a:lnSpc>
                <a:spcPts val="3735"/>
              </a:lnSpc>
            </a:pPr>
            <a:r>
              <a:rPr lang="en-US" sz="2410" b="true">
                <a:solidFill>
                  <a:srgbClr val="50BA9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Limited Access to Support</a:t>
            </a:r>
          </a:p>
          <a:p>
            <a:pPr algn="l">
              <a:lnSpc>
                <a:spcPts val="3487"/>
              </a:lnSpc>
            </a:pPr>
            <a:r>
              <a:rPr lang="en-US" sz="225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Students may not know where to seek help or may find counselling inconvenient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7701" y="-152400"/>
            <a:ext cx="5946934" cy="131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The Problem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24831" y="1717100"/>
            <a:ext cx="1284456" cy="6852801"/>
            <a:chOff x="0" y="0"/>
            <a:chExt cx="338293" cy="18048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8293" cy="1804853"/>
            </a:xfrm>
            <a:custGeom>
              <a:avLst/>
              <a:gdLst/>
              <a:ahLst/>
              <a:cxnLst/>
              <a:rect r="r" b="b" t="t" l="l"/>
              <a:pathLst>
                <a:path h="1804853" w="338293">
                  <a:moveTo>
                    <a:pt x="169146" y="0"/>
                  </a:moveTo>
                  <a:lnTo>
                    <a:pt x="169146" y="0"/>
                  </a:lnTo>
                  <a:cubicBezTo>
                    <a:pt x="262564" y="0"/>
                    <a:pt x="338293" y="75729"/>
                    <a:pt x="338293" y="169146"/>
                  </a:cubicBezTo>
                  <a:lnTo>
                    <a:pt x="338293" y="1635707"/>
                  </a:lnTo>
                  <a:cubicBezTo>
                    <a:pt x="338293" y="1729124"/>
                    <a:pt x="262564" y="1804853"/>
                    <a:pt x="169146" y="1804853"/>
                  </a:cubicBezTo>
                  <a:lnTo>
                    <a:pt x="169146" y="1804853"/>
                  </a:lnTo>
                  <a:cubicBezTo>
                    <a:pt x="75729" y="1804853"/>
                    <a:pt x="0" y="1729124"/>
                    <a:pt x="0" y="1635707"/>
                  </a:cubicBezTo>
                  <a:lnTo>
                    <a:pt x="0" y="169146"/>
                  </a:lnTo>
                  <a:cubicBezTo>
                    <a:pt x="0" y="75729"/>
                    <a:pt x="75729" y="0"/>
                    <a:pt x="169146" y="0"/>
                  </a:cubicBezTo>
                  <a:close/>
                </a:path>
              </a:pathLst>
            </a:custGeom>
            <a:solidFill>
              <a:srgbClr val="50BA9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38293" cy="1842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537351"/>
            <a:ext cx="15699233" cy="320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68"/>
              </a:lnSpc>
            </a:pPr>
            <a:r>
              <a:rPr lang="en-US" sz="5015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Problem statement</a:t>
            </a:r>
          </a:p>
          <a:p>
            <a:pPr algn="just">
              <a:lnSpc>
                <a:spcPts val="3707"/>
              </a:lnSpc>
            </a:pPr>
            <a:r>
              <a:rPr lang="en-US" sz="311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Students face stress, anxiety, loneliness and academic burnout, but often hesitate to seek help due to stigma, lack of awareness and limited accessibility.</a:t>
            </a:r>
          </a:p>
          <a:p>
            <a:pPr algn="just">
              <a:lnSpc>
                <a:spcPts val="5968"/>
              </a:lnSpc>
            </a:pPr>
          </a:p>
          <a:p>
            <a:pPr algn="just">
              <a:lnSpc>
                <a:spcPts val="596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26239" y="2837955"/>
            <a:ext cx="7252078" cy="400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92"/>
              </a:lnSpc>
            </a:pPr>
            <a:r>
              <a:rPr lang="en-US" sz="5708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Who is affected?</a:t>
            </a:r>
          </a:p>
          <a:p>
            <a:pPr algn="just">
              <a:lnSpc>
                <a:spcPts val="4490"/>
              </a:lnSpc>
            </a:pPr>
            <a:r>
              <a:rPr lang="en-US" sz="3773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college &amp; university students</a:t>
            </a:r>
          </a:p>
          <a:p>
            <a:pPr algn="just">
              <a:lnSpc>
                <a:spcPts val="4083"/>
              </a:lnSpc>
            </a:pPr>
            <a:r>
              <a:rPr lang="en-US" sz="3431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→ Academic pressure</a:t>
            </a:r>
          </a:p>
          <a:p>
            <a:pPr algn="just">
              <a:lnSpc>
                <a:spcPts val="4083"/>
              </a:lnSpc>
            </a:pPr>
            <a:r>
              <a:rPr lang="en-US" sz="3431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→ social isolation</a:t>
            </a:r>
          </a:p>
          <a:p>
            <a:pPr algn="just">
              <a:lnSpc>
                <a:spcPts val="4083"/>
              </a:lnSpc>
            </a:pPr>
            <a:r>
              <a:rPr lang="en-US" sz="3431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→ difficulty adjusting</a:t>
            </a:r>
          </a:p>
          <a:p>
            <a:pPr algn="just">
              <a:lnSpc>
                <a:spcPts val="4083"/>
              </a:lnSpc>
            </a:pPr>
            <a:r>
              <a:rPr lang="en-US" sz="3431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→ emotional stress</a:t>
            </a:r>
          </a:p>
          <a:p>
            <a:pPr algn="just">
              <a:lnSpc>
                <a:spcPts val="408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963709" y="2837955"/>
            <a:ext cx="7067563" cy="4016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915"/>
              </a:lnSpc>
            </a:pPr>
            <a:r>
              <a:rPr lang="en-US" sz="6651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How might we...?</a:t>
            </a:r>
          </a:p>
          <a:p>
            <a:pPr algn="just">
              <a:lnSpc>
                <a:spcPts val="4759"/>
              </a:lnSpc>
            </a:pPr>
            <a:r>
              <a:rPr lang="en-US" sz="3999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how might we provide students with a private, accessible and easy way to find the right psychological support</a:t>
            </a:r>
          </a:p>
          <a:p>
            <a:pPr algn="just">
              <a:lnSpc>
                <a:spcPts val="47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626239" y="6811712"/>
            <a:ext cx="15699233" cy="2532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95"/>
              </a:lnSpc>
            </a:pPr>
            <a:r>
              <a:rPr lang="en-US" sz="6215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Goal</a:t>
            </a:r>
          </a:p>
          <a:p>
            <a:pPr algn="ctr">
              <a:lnSpc>
                <a:spcPts val="5135"/>
              </a:lnSpc>
            </a:pPr>
            <a:r>
              <a:rPr lang="en-US" sz="431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Recognize → support → connect</a:t>
            </a:r>
          </a:p>
          <a:p>
            <a:pPr algn="just">
              <a:lnSpc>
                <a:spcPts val="739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06042" y="97155"/>
            <a:ext cx="12019677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6000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empathy: Understanding the users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32523"/>
            <a:ext cx="15840417" cy="2457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7"/>
              </a:lnSpc>
            </a:pPr>
            <a:r>
              <a:rPr lang="en-US" sz="3813" u="sng" b="true">
                <a:solidFill>
                  <a:srgbClr val="50BA9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Target Users:</a:t>
            </a:r>
          </a:p>
          <a:p>
            <a:pPr algn="l">
              <a:lnSpc>
                <a:spcPts val="3318"/>
              </a:lnSpc>
            </a:pPr>
            <a:r>
              <a:rPr lang="en-US" sz="381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College &amp; University Students</a:t>
            </a:r>
          </a:p>
          <a:p>
            <a:pPr algn="l">
              <a:lnSpc>
                <a:spcPts val="3318"/>
              </a:lnSpc>
            </a:pPr>
          </a:p>
          <a:p>
            <a:pPr algn="l">
              <a:lnSpc>
                <a:spcPts val="3318"/>
              </a:lnSpc>
            </a:pPr>
            <a:r>
              <a:rPr lang="en-US" b="true" sz="3813" u="sng">
                <a:solidFill>
                  <a:srgbClr val="50BA9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What We Learned: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505167"/>
            <a:ext cx="8079103" cy="605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4032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key insight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110293"/>
            <a:ext cx="7256635" cy="2724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7"/>
              </a:lnSpc>
            </a:pPr>
            <a:r>
              <a:rPr lang="en-US" sz="271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“I want help, but I need a safe and simple way to ask for it.”</a:t>
            </a:r>
          </a:p>
          <a:p>
            <a:pPr algn="l">
              <a:lnSpc>
                <a:spcPts val="5427"/>
              </a:lnSpc>
            </a:pPr>
          </a:p>
          <a:p>
            <a:pPr algn="l">
              <a:lnSpc>
                <a:spcPts val="542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333272"/>
            <a:ext cx="17259300" cy="341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5937" indent="-292968" lvl="1">
              <a:lnSpc>
                <a:spcPts val="5427"/>
              </a:lnSpc>
              <a:buFont typeface="Arial"/>
              <a:buChar char="•"/>
            </a:pPr>
            <a:r>
              <a:rPr lang="en-US" sz="271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Students often hide their struggles due to fear of judgement</a:t>
            </a:r>
          </a:p>
          <a:p>
            <a:pPr algn="l" marL="585937" indent="-292968" lvl="1">
              <a:lnSpc>
                <a:spcPts val="5427"/>
              </a:lnSpc>
              <a:buFont typeface="Arial"/>
              <a:buChar char="•"/>
            </a:pPr>
            <a:r>
              <a:rPr lang="en-US" sz="271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Many prefer private and convenient ways to seek help.</a:t>
            </a:r>
          </a:p>
          <a:p>
            <a:pPr algn="l" marL="585937" indent="-292968" lvl="1">
              <a:lnSpc>
                <a:spcPts val="5427"/>
              </a:lnSpc>
              <a:buFont typeface="Arial"/>
              <a:buChar char="•"/>
            </a:pPr>
            <a:r>
              <a:rPr lang="en-US" sz="271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Students may be unsure about when to seek professional support.</a:t>
            </a:r>
          </a:p>
          <a:p>
            <a:pPr algn="l" marL="585937" indent="-292968" lvl="1">
              <a:lnSpc>
                <a:spcPts val="5427"/>
              </a:lnSpc>
              <a:buFont typeface="Arial"/>
              <a:buChar char="•"/>
            </a:pPr>
            <a:r>
              <a:rPr lang="en-US" sz="271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They want quick, reliable and easy-to-understand resources.</a:t>
            </a:r>
          </a:p>
          <a:p>
            <a:pPr algn="l" marL="585937" indent="-292968" lvl="1">
              <a:lnSpc>
                <a:spcPts val="5427"/>
              </a:lnSpc>
              <a:buFont typeface="Arial"/>
              <a:buChar char="•"/>
            </a:pPr>
            <a:r>
              <a:rPr lang="en-US" sz="271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 supportive first step can make seeking help feel less intimidatng.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78194" y="7505167"/>
            <a:ext cx="8079103" cy="605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4032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methods used: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78194" y="8160549"/>
            <a:ext cx="7256635" cy="109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8"/>
              </a:lnSpc>
            </a:pPr>
            <a:r>
              <a:rPr lang="en-US" sz="271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Student Survey, Interviews, Empathy Mapping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24831" y="1717100"/>
            <a:ext cx="1284456" cy="6852801"/>
            <a:chOff x="0" y="0"/>
            <a:chExt cx="338293" cy="18048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8293" cy="1804853"/>
            </a:xfrm>
            <a:custGeom>
              <a:avLst/>
              <a:gdLst/>
              <a:ahLst/>
              <a:cxnLst/>
              <a:rect r="r" b="b" t="t" l="l"/>
              <a:pathLst>
                <a:path h="1804853" w="338293">
                  <a:moveTo>
                    <a:pt x="169146" y="0"/>
                  </a:moveTo>
                  <a:lnTo>
                    <a:pt x="169146" y="0"/>
                  </a:lnTo>
                  <a:cubicBezTo>
                    <a:pt x="262564" y="0"/>
                    <a:pt x="338293" y="75729"/>
                    <a:pt x="338293" y="169146"/>
                  </a:cubicBezTo>
                  <a:lnTo>
                    <a:pt x="338293" y="1635707"/>
                  </a:lnTo>
                  <a:cubicBezTo>
                    <a:pt x="338293" y="1729124"/>
                    <a:pt x="262564" y="1804853"/>
                    <a:pt x="169146" y="1804853"/>
                  </a:cubicBezTo>
                  <a:lnTo>
                    <a:pt x="169146" y="1804853"/>
                  </a:lnTo>
                  <a:cubicBezTo>
                    <a:pt x="75729" y="1804853"/>
                    <a:pt x="0" y="1729124"/>
                    <a:pt x="0" y="1635707"/>
                  </a:cubicBezTo>
                  <a:lnTo>
                    <a:pt x="0" y="169146"/>
                  </a:lnTo>
                  <a:cubicBezTo>
                    <a:pt x="0" y="75729"/>
                    <a:pt x="75729" y="0"/>
                    <a:pt x="169146" y="0"/>
                  </a:cubicBezTo>
                  <a:close/>
                </a:path>
              </a:pathLst>
            </a:custGeom>
            <a:solidFill>
              <a:srgbClr val="50BA9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38293" cy="1842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21995" y="785555"/>
            <a:ext cx="6248904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6000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empathy map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1995" y="1863265"/>
            <a:ext cx="16283566" cy="410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96"/>
              </a:lnSpc>
            </a:pPr>
            <a:r>
              <a:rPr lang="en-US" b="true" sz="2935" u="sng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💬 SAYS </a:t>
            </a:r>
            <a:r>
              <a:rPr lang="en-US" sz="293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                                                                          💭</a:t>
            </a:r>
            <a:r>
              <a:rPr lang="en-US" b="true" sz="2935" u="sng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THINKS</a:t>
            </a:r>
          </a:p>
          <a:p>
            <a:pPr algn="just">
              <a:lnSpc>
                <a:spcPts val="4696"/>
              </a:lnSpc>
            </a:pPr>
            <a:r>
              <a:rPr lang="en-US" sz="293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“I’m just stressed.”                                                                “Will people judge me?”</a:t>
            </a:r>
          </a:p>
          <a:p>
            <a:pPr algn="just">
              <a:lnSpc>
                <a:spcPts val="4696"/>
              </a:lnSpc>
            </a:pPr>
            <a:r>
              <a:rPr lang="en-US" sz="293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“I can handle it myself.”                                                      “Do I actually need help?”</a:t>
            </a:r>
          </a:p>
          <a:p>
            <a:pPr algn="just">
              <a:lnSpc>
                <a:spcPts val="4696"/>
              </a:lnSpc>
            </a:pPr>
            <a:r>
              <a:rPr lang="en-US" sz="293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“I don't know who to talk to.”                                            “I wish support was easier to access.”</a:t>
            </a:r>
          </a:p>
          <a:p>
            <a:pPr algn="just">
              <a:lnSpc>
                <a:spcPts val="4696"/>
              </a:lnSpc>
            </a:pPr>
          </a:p>
          <a:p>
            <a:pPr algn="just">
              <a:lnSpc>
                <a:spcPts val="9612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495095" y="7432942"/>
            <a:ext cx="15937364" cy="2863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48"/>
              </a:lnSpc>
            </a:pPr>
            <a:r>
              <a:rPr lang="en-US" b="true" sz="4217" u="sng">
                <a:solidFill>
                  <a:srgbClr val="50BA9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Key Insight</a:t>
            </a:r>
          </a:p>
          <a:p>
            <a:pPr algn="just">
              <a:lnSpc>
                <a:spcPts val="4668"/>
              </a:lnSpc>
            </a:pPr>
            <a:r>
              <a:rPr lang="en-US" sz="291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Students want support, but privacy, convenience and fear of judgement influence how they seek it.</a:t>
            </a:r>
          </a:p>
          <a:p>
            <a:pPr algn="just">
              <a:lnSpc>
                <a:spcPts val="3068"/>
              </a:lnSpc>
            </a:pPr>
          </a:p>
          <a:p>
            <a:pPr algn="just">
              <a:lnSpc>
                <a:spcPts val="3068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31552" y="3835658"/>
            <a:ext cx="16283566" cy="3556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96"/>
              </a:lnSpc>
            </a:pPr>
          </a:p>
          <a:p>
            <a:pPr algn="just">
              <a:lnSpc>
                <a:spcPts val="4696"/>
              </a:lnSpc>
            </a:pPr>
            <a:r>
              <a:rPr lang="en-US" sz="293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👤 </a:t>
            </a:r>
            <a:r>
              <a:rPr lang="en-US" b="true" sz="2935" u="sng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DOES</a:t>
            </a:r>
            <a:r>
              <a:rPr lang="en-US" sz="293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                                                                        ❤️ </a:t>
            </a:r>
            <a:r>
              <a:rPr lang="en-US" b="true" sz="2935" u="sng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FEELS</a:t>
            </a:r>
          </a:p>
          <a:p>
            <a:pPr algn="just">
              <a:lnSpc>
                <a:spcPts val="4696"/>
              </a:lnSpc>
            </a:pPr>
            <a:r>
              <a:rPr lang="en-US" sz="293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Avoids asking for help                                                          Overwhelmed</a:t>
            </a:r>
          </a:p>
          <a:p>
            <a:pPr algn="just">
              <a:lnSpc>
                <a:spcPts val="4696"/>
              </a:lnSpc>
            </a:pPr>
            <a:r>
              <a:rPr lang="en-US" sz="293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Keeps problems to themselves                                          Anxious</a:t>
            </a:r>
          </a:p>
          <a:p>
            <a:pPr algn="just">
              <a:lnSpc>
                <a:spcPts val="4696"/>
              </a:lnSpc>
            </a:pPr>
            <a:r>
              <a:rPr lang="en-US" sz="293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Searches online for solutions                                              Lonely</a:t>
            </a:r>
          </a:p>
          <a:p>
            <a:pPr algn="just">
              <a:lnSpc>
                <a:spcPts val="4696"/>
              </a:lnSpc>
            </a:pPr>
            <a:r>
              <a:rPr lang="en-US" sz="293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Talks to friends instead                                                         Uncertain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24831" y="1717100"/>
            <a:ext cx="1284456" cy="6852801"/>
            <a:chOff x="0" y="0"/>
            <a:chExt cx="338293" cy="18048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8293" cy="1804853"/>
            </a:xfrm>
            <a:custGeom>
              <a:avLst/>
              <a:gdLst/>
              <a:ahLst/>
              <a:cxnLst/>
              <a:rect r="r" b="b" t="t" l="l"/>
              <a:pathLst>
                <a:path h="1804853" w="338293">
                  <a:moveTo>
                    <a:pt x="169146" y="0"/>
                  </a:moveTo>
                  <a:lnTo>
                    <a:pt x="169146" y="0"/>
                  </a:lnTo>
                  <a:cubicBezTo>
                    <a:pt x="262564" y="0"/>
                    <a:pt x="338293" y="75729"/>
                    <a:pt x="338293" y="169146"/>
                  </a:cubicBezTo>
                  <a:lnTo>
                    <a:pt x="338293" y="1635707"/>
                  </a:lnTo>
                  <a:cubicBezTo>
                    <a:pt x="338293" y="1729124"/>
                    <a:pt x="262564" y="1804853"/>
                    <a:pt x="169146" y="1804853"/>
                  </a:cubicBezTo>
                  <a:lnTo>
                    <a:pt x="169146" y="1804853"/>
                  </a:lnTo>
                  <a:cubicBezTo>
                    <a:pt x="75729" y="1804853"/>
                    <a:pt x="0" y="1729124"/>
                    <a:pt x="0" y="1635707"/>
                  </a:cubicBezTo>
                  <a:lnTo>
                    <a:pt x="0" y="169146"/>
                  </a:lnTo>
                  <a:cubicBezTo>
                    <a:pt x="0" y="75729"/>
                    <a:pt x="75729" y="0"/>
                    <a:pt x="169146" y="0"/>
                  </a:cubicBezTo>
                  <a:close/>
                </a:path>
              </a:pathLst>
            </a:custGeom>
            <a:solidFill>
              <a:srgbClr val="50BA9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38293" cy="1842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76769"/>
            <a:ext cx="10517046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6000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define: user persona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5318" y="2628325"/>
            <a:ext cx="15937364" cy="1043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8"/>
              </a:lnSpc>
            </a:pPr>
            <a:r>
              <a:rPr lang="en-US" b="true" sz="3117" u="sng">
                <a:solidFill>
                  <a:srgbClr val="50BA9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Situation:</a:t>
            </a:r>
            <a:r>
              <a:rPr lang="en-US" sz="311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Struggling to balance academics, social life and personal well-being</a:t>
            </a:r>
          </a:p>
          <a:p>
            <a:pPr algn="just">
              <a:lnSpc>
                <a:spcPts val="306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371279"/>
            <a:ext cx="10517046" cy="691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4"/>
              </a:lnSpc>
            </a:pPr>
            <a:r>
              <a:rPr lang="en-US" sz="4600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meet our user - aditi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215321"/>
            <a:ext cx="10517046" cy="413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3"/>
              </a:lnSpc>
            </a:pPr>
            <a:r>
              <a:rPr lang="en-US" sz="2700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19 years-old | 1</a:t>
            </a:r>
            <a:r>
              <a:rPr lang="en-US" sz="2700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st-Year</a:t>
            </a:r>
            <a:r>
              <a:rPr lang="en-US" sz="2700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 College STUDENT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510072"/>
            <a:ext cx="7372814" cy="4186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8"/>
              </a:lnSpc>
            </a:pPr>
            <a:r>
              <a:rPr lang="en-US" sz="3117">
                <a:solidFill>
                  <a:srgbClr val="50BA9E"/>
                </a:solidFill>
                <a:latin typeface="Codec Pro"/>
                <a:ea typeface="Codec Pro"/>
                <a:cs typeface="Codec Pro"/>
                <a:sym typeface="Codec Pro"/>
              </a:rPr>
              <a:t>Pain Points</a:t>
            </a:r>
          </a:p>
          <a:p>
            <a:pPr algn="just" marL="673124" indent="-336562" lvl="1">
              <a:lnSpc>
                <a:spcPts val="4988"/>
              </a:lnSpc>
              <a:buFont typeface="Arial"/>
              <a:buChar char="•"/>
            </a:pPr>
            <a:r>
              <a:rPr lang="en-US" sz="311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📚 Academic workload</a:t>
            </a:r>
          </a:p>
          <a:p>
            <a:pPr algn="just" marL="673124" indent="-336562" lvl="1">
              <a:lnSpc>
                <a:spcPts val="4988"/>
              </a:lnSpc>
              <a:buFont typeface="Arial"/>
              <a:buChar char="•"/>
            </a:pPr>
            <a:r>
              <a:rPr lang="en-US" sz="311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😰 Stress and overthinking</a:t>
            </a:r>
          </a:p>
          <a:p>
            <a:pPr algn="just" marL="673124" indent="-336562" lvl="1">
              <a:lnSpc>
                <a:spcPts val="4988"/>
              </a:lnSpc>
              <a:buFont typeface="Arial"/>
              <a:buChar char="•"/>
            </a:pPr>
            <a:r>
              <a:rPr lang="en-US" sz="311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👥 Difficulty opening up</a:t>
            </a:r>
          </a:p>
          <a:p>
            <a:pPr algn="just" marL="673124" indent="-336562" lvl="1">
              <a:lnSpc>
                <a:spcPts val="4988"/>
              </a:lnSpc>
              <a:buFont typeface="Arial"/>
              <a:buChar char="•"/>
            </a:pPr>
            <a:r>
              <a:rPr lang="en-US" sz="311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🤐 Fear of being judged</a:t>
            </a:r>
          </a:p>
          <a:p>
            <a:pPr algn="just" marL="673124" indent="-336562" lvl="1">
              <a:lnSpc>
                <a:spcPts val="4988"/>
              </a:lnSpc>
              <a:buFont typeface="Arial"/>
              <a:buChar char="•"/>
            </a:pPr>
            <a:r>
              <a:rPr lang="en-US" sz="311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🕐 Counselling feels inconvenient</a:t>
            </a:r>
          </a:p>
          <a:p>
            <a:pPr algn="just">
              <a:lnSpc>
                <a:spcPts val="3068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474898" y="3485575"/>
            <a:ext cx="7372814" cy="4186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8"/>
              </a:lnSpc>
            </a:pPr>
            <a:r>
              <a:rPr lang="en-US" sz="3117">
                <a:solidFill>
                  <a:srgbClr val="50BA9E"/>
                </a:solidFill>
                <a:latin typeface="Codec Pro"/>
                <a:ea typeface="Codec Pro"/>
                <a:cs typeface="Codec Pro"/>
                <a:sym typeface="Codec Pro"/>
              </a:rPr>
              <a:t>Needs</a:t>
            </a:r>
          </a:p>
          <a:p>
            <a:pPr algn="just" marL="673124" indent="-336562" lvl="1">
              <a:lnSpc>
                <a:spcPts val="4988"/>
              </a:lnSpc>
              <a:buFont typeface="Arial"/>
              <a:buChar char="•"/>
            </a:pPr>
            <a:r>
              <a:rPr lang="en-US" sz="311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Pr</a:t>
            </a:r>
            <a:r>
              <a:rPr lang="en-US" sz="311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ivacy</a:t>
            </a:r>
          </a:p>
          <a:p>
            <a:pPr algn="just" marL="673124" indent="-336562" lvl="1">
              <a:lnSpc>
                <a:spcPts val="4988"/>
              </a:lnSpc>
              <a:buFont typeface="Arial"/>
              <a:buChar char="•"/>
            </a:pPr>
            <a:r>
              <a:rPr lang="en-US" sz="311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Easy</a:t>
            </a:r>
            <a:r>
              <a:rPr lang="en-US" sz="311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access to support</a:t>
            </a:r>
          </a:p>
          <a:p>
            <a:pPr algn="just" marL="673124" indent="-336562" lvl="1">
              <a:lnSpc>
                <a:spcPts val="4988"/>
              </a:lnSpc>
              <a:buFont typeface="Arial"/>
              <a:buChar char="•"/>
            </a:pPr>
            <a:r>
              <a:rPr lang="en-US" sz="311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Rel</a:t>
            </a:r>
            <a:r>
              <a:rPr lang="en-US" sz="311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iable resources</a:t>
            </a:r>
          </a:p>
          <a:p>
            <a:pPr algn="just" marL="673124" indent="-336562" lvl="1">
              <a:lnSpc>
                <a:spcPts val="4988"/>
              </a:lnSpc>
              <a:buFont typeface="Arial"/>
              <a:buChar char="•"/>
            </a:pPr>
            <a:r>
              <a:rPr lang="en-US" sz="311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Non-judgmental guidance</a:t>
            </a:r>
          </a:p>
          <a:p>
            <a:pPr algn="just">
              <a:lnSpc>
                <a:spcPts val="4988"/>
              </a:lnSpc>
            </a:pPr>
          </a:p>
          <a:p>
            <a:pPr algn="just">
              <a:lnSpc>
                <a:spcPts val="3068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506216" y="7696994"/>
            <a:ext cx="15937364" cy="1672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8"/>
              </a:lnSpc>
            </a:pPr>
            <a:r>
              <a:rPr lang="en-US" b="true" sz="3117" u="sng">
                <a:solidFill>
                  <a:srgbClr val="50BA9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Goal</a:t>
            </a:r>
          </a:p>
          <a:p>
            <a:pPr algn="just">
              <a:lnSpc>
                <a:spcPts val="4988"/>
              </a:lnSpc>
            </a:pPr>
            <a:r>
              <a:rPr lang="en-US" sz="311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To manage stress and get support without feeling exposed or judged.</a:t>
            </a:r>
          </a:p>
          <a:p>
            <a:pPr algn="just">
              <a:lnSpc>
                <a:spcPts val="306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24831" y="1717100"/>
            <a:ext cx="1284456" cy="6852801"/>
            <a:chOff x="0" y="0"/>
            <a:chExt cx="338293" cy="18048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8293" cy="1804853"/>
            </a:xfrm>
            <a:custGeom>
              <a:avLst/>
              <a:gdLst/>
              <a:ahLst/>
              <a:cxnLst/>
              <a:rect r="r" b="b" t="t" l="l"/>
              <a:pathLst>
                <a:path h="1804853" w="338293">
                  <a:moveTo>
                    <a:pt x="169146" y="0"/>
                  </a:moveTo>
                  <a:lnTo>
                    <a:pt x="169146" y="0"/>
                  </a:lnTo>
                  <a:cubicBezTo>
                    <a:pt x="262564" y="0"/>
                    <a:pt x="338293" y="75729"/>
                    <a:pt x="338293" y="169146"/>
                  </a:cubicBezTo>
                  <a:lnTo>
                    <a:pt x="338293" y="1635707"/>
                  </a:lnTo>
                  <a:cubicBezTo>
                    <a:pt x="338293" y="1729124"/>
                    <a:pt x="262564" y="1804853"/>
                    <a:pt x="169146" y="1804853"/>
                  </a:cubicBezTo>
                  <a:lnTo>
                    <a:pt x="169146" y="1804853"/>
                  </a:lnTo>
                  <a:cubicBezTo>
                    <a:pt x="75729" y="1804853"/>
                    <a:pt x="0" y="1729124"/>
                    <a:pt x="0" y="1635707"/>
                  </a:cubicBezTo>
                  <a:lnTo>
                    <a:pt x="0" y="169146"/>
                  </a:lnTo>
                  <a:cubicBezTo>
                    <a:pt x="0" y="75729"/>
                    <a:pt x="75729" y="0"/>
                    <a:pt x="169146" y="0"/>
                  </a:cubicBezTo>
                  <a:close/>
                </a:path>
              </a:pathLst>
            </a:custGeom>
            <a:solidFill>
              <a:srgbClr val="50BA9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38293" cy="1842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76769"/>
            <a:ext cx="10517046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6000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define: core 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371279"/>
            <a:ext cx="10517046" cy="691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4"/>
              </a:lnSpc>
            </a:pPr>
            <a:r>
              <a:rPr lang="en-US" sz="4600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what Does the student really need?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0029" y="2158789"/>
            <a:ext cx="15819012" cy="121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3"/>
              </a:lnSpc>
            </a:pPr>
            <a:r>
              <a:rPr lang="en-US" sz="2700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problem:</a:t>
            </a:r>
          </a:p>
          <a:p>
            <a:pPr algn="l">
              <a:lnSpc>
                <a:spcPts val="3213"/>
              </a:lnSpc>
            </a:pPr>
            <a:r>
              <a:rPr lang="en-US" sz="2700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Students need a private and accessible way to recognize their emotional needs and find appropriate support without feeling judged or overwhelmed.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510072"/>
            <a:ext cx="13082514" cy="4186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8"/>
              </a:lnSpc>
            </a:pPr>
            <a:r>
              <a:rPr lang="en-US" sz="3117">
                <a:solidFill>
                  <a:srgbClr val="50BA9E"/>
                </a:solidFill>
                <a:latin typeface="Codec Pro"/>
                <a:ea typeface="Codec Pro"/>
                <a:cs typeface="Codec Pro"/>
                <a:sym typeface="Codec Pro"/>
              </a:rPr>
              <a:t>Our Design Requirements</a:t>
            </a:r>
          </a:p>
          <a:p>
            <a:pPr algn="just">
              <a:lnSpc>
                <a:spcPts val="4988"/>
              </a:lnSpc>
            </a:pPr>
            <a:r>
              <a:rPr lang="en-US" sz="311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🔒</a:t>
            </a:r>
            <a:r>
              <a:rPr lang="en-US" sz="311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Private — Protect student confidentiality</a:t>
            </a:r>
          </a:p>
          <a:p>
            <a:pPr algn="just">
              <a:lnSpc>
                <a:spcPts val="4988"/>
              </a:lnSpc>
            </a:pPr>
            <a:r>
              <a:rPr lang="en-US" sz="311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⚡ Accessible — Support available anytime</a:t>
            </a:r>
          </a:p>
          <a:p>
            <a:pPr algn="just">
              <a:lnSpc>
                <a:spcPts val="4988"/>
              </a:lnSpc>
            </a:pPr>
            <a:r>
              <a:rPr lang="en-US" sz="311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🧭 Guided — Help students find the right resource</a:t>
            </a:r>
          </a:p>
          <a:p>
            <a:pPr algn="just">
              <a:lnSpc>
                <a:spcPts val="4988"/>
              </a:lnSpc>
            </a:pPr>
            <a:r>
              <a:rPr lang="en-US" sz="311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🤝 Supportive — Encourage connection with people who can help</a:t>
            </a:r>
          </a:p>
          <a:p>
            <a:pPr algn="just">
              <a:lnSpc>
                <a:spcPts val="4988"/>
              </a:lnSpc>
            </a:pPr>
          </a:p>
          <a:p>
            <a:pPr algn="just">
              <a:lnSpc>
                <a:spcPts val="306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21936" y="6785878"/>
            <a:ext cx="15937364" cy="368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4"/>
              </a:lnSpc>
            </a:pPr>
            <a:r>
              <a:rPr lang="en-US" b="true" sz="3117" u="sng">
                <a:solidFill>
                  <a:srgbClr val="50BA9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Design Goal</a:t>
            </a:r>
          </a:p>
          <a:p>
            <a:pPr algn="ctr">
              <a:lnSpc>
                <a:spcPts val="4364"/>
              </a:lnSpc>
            </a:pPr>
            <a:r>
              <a:rPr lang="en-US" sz="311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Create</a:t>
            </a:r>
            <a:r>
              <a:rPr lang="en-US" sz="311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a simple digital bridge between students and psychological support.</a:t>
            </a:r>
          </a:p>
          <a:p>
            <a:pPr algn="just">
              <a:lnSpc>
                <a:spcPts val="4364"/>
              </a:lnSpc>
            </a:pPr>
          </a:p>
          <a:p>
            <a:pPr algn="ctr">
              <a:lnSpc>
                <a:spcPts val="4364"/>
              </a:lnSpc>
            </a:pPr>
            <a:r>
              <a:rPr lang="en-US" b="true" sz="3117" u="sng">
                <a:solidFill>
                  <a:srgbClr val="50BA9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MindBridge</a:t>
            </a:r>
          </a:p>
          <a:p>
            <a:pPr algn="ctr">
              <a:lnSpc>
                <a:spcPts val="4364"/>
              </a:lnSpc>
            </a:pPr>
            <a:r>
              <a:rPr lang="en-US" sz="311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Recognize → Guide → Connect → Support</a:t>
            </a:r>
          </a:p>
          <a:p>
            <a:pPr algn="just">
              <a:lnSpc>
                <a:spcPts val="4364"/>
              </a:lnSpc>
            </a:pPr>
          </a:p>
          <a:p>
            <a:pPr algn="just">
              <a:lnSpc>
                <a:spcPts val="268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84203" y="97155"/>
            <a:ext cx="5919594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6000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idea generation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236320" y="2206272"/>
            <a:ext cx="14160585" cy="5422203"/>
            <a:chOff x="0" y="0"/>
            <a:chExt cx="3729537" cy="14280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29537" cy="1428070"/>
            </a:xfrm>
            <a:custGeom>
              <a:avLst/>
              <a:gdLst/>
              <a:ahLst/>
              <a:cxnLst/>
              <a:rect r="r" b="b" t="t" l="l"/>
              <a:pathLst>
                <a:path h="1428070" w="3729537">
                  <a:moveTo>
                    <a:pt x="27883" y="0"/>
                  </a:moveTo>
                  <a:lnTo>
                    <a:pt x="3701654" y="0"/>
                  </a:lnTo>
                  <a:cubicBezTo>
                    <a:pt x="3709049" y="0"/>
                    <a:pt x="3716141" y="2938"/>
                    <a:pt x="3721370" y="8167"/>
                  </a:cubicBezTo>
                  <a:cubicBezTo>
                    <a:pt x="3726599" y="13396"/>
                    <a:pt x="3729537" y="20488"/>
                    <a:pt x="3729537" y="27883"/>
                  </a:cubicBezTo>
                  <a:lnTo>
                    <a:pt x="3729537" y="1400187"/>
                  </a:lnTo>
                  <a:cubicBezTo>
                    <a:pt x="3729537" y="1407582"/>
                    <a:pt x="3726599" y="1414674"/>
                    <a:pt x="3721370" y="1419903"/>
                  </a:cubicBezTo>
                  <a:cubicBezTo>
                    <a:pt x="3716141" y="1425132"/>
                    <a:pt x="3709049" y="1428070"/>
                    <a:pt x="3701654" y="1428070"/>
                  </a:cubicBezTo>
                  <a:lnTo>
                    <a:pt x="27883" y="1428070"/>
                  </a:lnTo>
                  <a:cubicBezTo>
                    <a:pt x="20488" y="1428070"/>
                    <a:pt x="13396" y="1425132"/>
                    <a:pt x="8167" y="1419903"/>
                  </a:cubicBezTo>
                  <a:cubicBezTo>
                    <a:pt x="2938" y="1414674"/>
                    <a:pt x="0" y="1407582"/>
                    <a:pt x="0" y="1400187"/>
                  </a:cubicBezTo>
                  <a:lnTo>
                    <a:pt x="0" y="27883"/>
                  </a:lnTo>
                  <a:cubicBezTo>
                    <a:pt x="0" y="20488"/>
                    <a:pt x="2938" y="13396"/>
                    <a:pt x="8167" y="8167"/>
                  </a:cubicBezTo>
                  <a:cubicBezTo>
                    <a:pt x="13396" y="2938"/>
                    <a:pt x="20488" y="0"/>
                    <a:pt x="27883" y="0"/>
                  </a:cubicBezTo>
                  <a:close/>
                </a:path>
              </a:pathLst>
            </a:custGeom>
            <a:solidFill>
              <a:srgbClr val="50BA9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729537" cy="1466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376698" y="1019175"/>
            <a:ext cx="9085368" cy="518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6"/>
              </a:lnSpc>
            </a:pPr>
            <a:r>
              <a:rPr lang="en-US" sz="3400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brainstorming possible solutions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56129" y="1733809"/>
            <a:ext cx="13720966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</a:pPr>
            <a:r>
              <a:rPr lang="en-US" sz="3000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we explored multiple ways to address students’ mental-health needs: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56129" y="2448587"/>
            <a:ext cx="10669034" cy="53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5653" indent="-432826" lvl="1">
              <a:lnSpc>
                <a:spcPts val="4771"/>
              </a:lnSpc>
              <a:buFont typeface="Arial"/>
              <a:buChar char="•"/>
            </a:pPr>
            <a:r>
              <a:rPr lang="en-US" sz="4009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📱 Mental Health App</a:t>
            </a:r>
          </a:p>
          <a:p>
            <a:pPr algn="just" marL="865653" indent="-432826" lvl="1">
              <a:lnSpc>
                <a:spcPts val="4771"/>
              </a:lnSpc>
              <a:buFont typeface="Arial"/>
              <a:buChar char="•"/>
            </a:pPr>
            <a:r>
              <a:rPr lang="en-US" sz="4009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🧠 Daily Mood Check-in</a:t>
            </a:r>
          </a:p>
          <a:p>
            <a:pPr algn="just" marL="865653" indent="-432826" lvl="1">
              <a:lnSpc>
                <a:spcPts val="4771"/>
              </a:lnSpc>
              <a:buFont typeface="Arial"/>
              <a:buChar char="•"/>
            </a:pPr>
            <a:r>
              <a:rPr lang="en-US" sz="4009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💬 Anonymous Support Chat</a:t>
            </a:r>
          </a:p>
          <a:p>
            <a:pPr algn="just" marL="865653" indent="-432826" lvl="1">
              <a:lnSpc>
                <a:spcPts val="4771"/>
              </a:lnSpc>
              <a:buFont typeface="Arial"/>
              <a:buChar char="•"/>
            </a:pPr>
            <a:r>
              <a:rPr lang="en-US" sz="4009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👩‍⚕️ Online Counselling Booking</a:t>
            </a:r>
          </a:p>
          <a:p>
            <a:pPr algn="just" marL="865653" indent="-432826" lvl="1">
              <a:lnSpc>
                <a:spcPts val="4771"/>
              </a:lnSpc>
              <a:buFont typeface="Arial"/>
              <a:buChar char="•"/>
            </a:pPr>
            <a:r>
              <a:rPr lang="en-US" sz="4009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🧘 Self-Help &amp; Wellness Tools</a:t>
            </a:r>
          </a:p>
          <a:p>
            <a:pPr algn="just" marL="865653" indent="-432826" lvl="1">
              <a:lnSpc>
                <a:spcPts val="4771"/>
              </a:lnSpc>
              <a:buFont typeface="Arial"/>
              <a:buChar char="•"/>
            </a:pPr>
            <a:r>
              <a:rPr lang="en-US" sz="4009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👥 Peer Support Network</a:t>
            </a:r>
          </a:p>
          <a:p>
            <a:pPr algn="just" marL="865653" indent="-432826" lvl="1">
              <a:lnSpc>
                <a:spcPts val="4771"/>
              </a:lnSpc>
              <a:buFont typeface="Arial"/>
              <a:buChar char="•"/>
            </a:pPr>
            <a:r>
              <a:rPr lang="en-US" sz="4009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🚨 Emergency Support Access</a:t>
            </a:r>
          </a:p>
          <a:p>
            <a:pPr algn="just" marL="865653" indent="-432826" lvl="1">
              <a:lnSpc>
                <a:spcPts val="4771"/>
              </a:lnSpc>
              <a:buFont typeface="Arial"/>
              <a:buChar char="•"/>
            </a:pPr>
            <a:r>
              <a:rPr lang="en-US" sz="4009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📊 Well-being Progress Tracking</a:t>
            </a:r>
          </a:p>
          <a:p>
            <a:pPr algn="just">
              <a:lnSpc>
                <a:spcPts val="477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921946" y="7838025"/>
            <a:ext cx="14789332" cy="1832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1"/>
              </a:lnSpc>
            </a:pPr>
            <a:r>
              <a:rPr lang="en-US" sz="3076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From Ideas to One Solution</a:t>
            </a:r>
          </a:p>
          <a:p>
            <a:pPr algn="ctr">
              <a:lnSpc>
                <a:spcPts val="3661"/>
              </a:lnSpc>
            </a:pPr>
            <a:r>
              <a:rPr lang="en-US" sz="3076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Combine the most useful features into one accessible platform — </a:t>
            </a:r>
            <a:r>
              <a:rPr lang="en-US" sz="3076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MindBridge</a:t>
            </a:r>
            <a:r>
              <a:rPr lang="en-US" sz="3076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.</a:t>
            </a:r>
          </a:p>
          <a:p>
            <a:pPr algn="ctr">
              <a:lnSpc>
                <a:spcPts val="3661"/>
              </a:lnSpc>
            </a:pPr>
            <a:r>
              <a:rPr lang="en-US" sz="3076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Check-in → Self-help → Support → Professional Help</a:t>
            </a:r>
          </a:p>
          <a:p>
            <a:pPr algn="l">
              <a:lnSpc>
                <a:spcPts val="3661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257882" y="1360106"/>
          <a:ext cx="17772237" cy="6256026"/>
        </p:xfrm>
        <a:graphic>
          <a:graphicData uri="http://schemas.openxmlformats.org/drawingml/2006/table">
            <a:tbl>
              <a:tblPr/>
              <a:tblGrid>
                <a:gridCol w="3874324"/>
                <a:gridCol w="2996861"/>
                <a:gridCol w="2999157"/>
                <a:gridCol w="2936803"/>
                <a:gridCol w="2770211"/>
                <a:gridCol w="2194880"/>
              </a:tblGrid>
              <a:tr h="9008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50BA9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IDEA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50BA9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IMPACT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50BA9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PRIVACY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50BA9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FEASIBILITY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50BA9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ACCESSIBILITY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50BA9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8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50BA9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Meditation App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8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50BA9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Peer Support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8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50BA9E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Counselling Booking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8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50BA9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MindBridge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802573" y="562927"/>
            <a:ext cx="16280181" cy="7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7"/>
              </a:lnSpc>
            </a:pPr>
            <a:r>
              <a:rPr lang="en-US" sz="5199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major modules of the proposed system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37632" y="8060771"/>
            <a:ext cx="16280181" cy="518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5"/>
              </a:lnSpc>
            </a:pPr>
            <a:r>
              <a:rPr lang="en-US" sz="3399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MINDBRIDGE </a:t>
            </a:r>
            <a:r>
              <a:rPr lang="en-US" sz="3399">
                <a:solidFill>
                  <a:srgbClr val="474A50"/>
                </a:solidFill>
                <a:latin typeface="Bobby Jones"/>
                <a:ea typeface="Bobby Jones"/>
                <a:cs typeface="Bobby Jones"/>
                <a:sym typeface="Bobby Jones"/>
              </a:rPr>
              <a:t>- an integrated digital mental-health support platform for students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28317" y="414766"/>
            <a:ext cx="14156448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6000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rapid estimation &amp; solution concept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528926" y="5882850"/>
            <a:ext cx="13755230" cy="883567"/>
            <a:chOff x="0" y="0"/>
            <a:chExt cx="3622777" cy="2327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22777" cy="232709"/>
            </a:xfrm>
            <a:custGeom>
              <a:avLst/>
              <a:gdLst/>
              <a:ahLst/>
              <a:cxnLst/>
              <a:rect r="r" b="b" t="t" l="l"/>
              <a:pathLst>
                <a:path h="232709" w="3622777">
                  <a:moveTo>
                    <a:pt x="28705" y="0"/>
                  </a:moveTo>
                  <a:lnTo>
                    <a:pt x="3594072" y="0"/>
                  </a:lnTo>
                  <a:cubicBezTo>
                    <a:pt x="3601685" y="0"/>
                    <a:pt x="3608986" y="3024"/>
                    <a:pt x="3614369" y="8407"/>
                  </a:cubicBezTo>
                  <a:cubicBezTo>
                    <a:pt x="3619752" y="13791"/>
                    <a:pt x="3622777" y="21092"/>
                    <a:pt x="3622777" y="28705"/>
                  </a:cubicBezTo>
                  <a:lnTo>
                    <a:pt x="3622777" y="204004"/>
                  </a:lnTo>
                  <a:cubicBezTo>
                    <a:pt x="3622777" y="219858"/>
                    <a:pt x="3609925" y="232709"/>
                    <a:pt x="3594072" y="232709"/>
                  </a:cubicBezTo>
                  <a:lnTo>
                    <a:pt x="28705" y="232709"/>
                  </a:lnTo>
                  <a:cubicBezTo>
                    <a:pt x="12851" y="232709"/>
                    <a:pt x="0" y="219858"/>
                    <a:pt x="0" y="204004"/>
                  </a:cubicBezTo>
                  <a:lnTo>
                    <a:pt x="0" y="28705"/>
                  </a:lnTo>
                  <a:cubicBezTo>
                    <a:pt x="0" y="12851"/>
                    <a:pt x="12851" y="0"/>
                    <a:pt x="28705" y="0"/>
                  </a:cubicBezTo>
                  <a:close/>
                </a:path>
              </a:pathLst>
            </a:custGeom>
            <a:solidFill>
              <a:srgbClr val="50BA9E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622777" cy="270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20396" y="1346311"/>
            <a:ext cx="16822347" cy="7701581"/>
            <a:chOff x="0" y="0"/>
            <a:chExt cx="4430577" cy="2028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30577" cy="2028400"/>
            </a:xfrm>
            <a:custGeom>
              <a:avLst/>
              <a:gdLst/>
              <a:ahLst/>
              <a:cxnLst/>
              <a:rect r="r" b="b" t="t" l="l"/>
              <a:pathLst>
                <a:path h="2028400" w="4430577">
                  <a:moveTo>
                    <a:pt x="23471" y="0"/>
                  </a:moveTo>
                  <a:lnTo>
                    <a:pt x="4407106" y="0"/>
                  </a:lnTo>
                  <a:cubicBezTo>
                    <a:pt x="4413331" y="0"/>
                    <a:pt x="4419301" y="2473"/>
                    <a:pt x="4423702" y="6875"/>
                  </a:cubicBezTo>
                  <a:cubicBezTo>
                    <a:pt x="4428104" y="11276"/>
                    <a:pt x="4430577" y="17246"/>
                    <a:pt x="4430577" y="23471"/>
                  </a:cubicBezTo>
                  <a:lnTo>
                    <a:pt x="4430577" y="2004929"/>
                  </a:lnTo>
                  <a:cubicBezTo>
                    <a:pt x="4430577" y="2011154"/>
                    <a:pt x="4428104" y="2017124"/>
                    <a:pt x="4423702" y="2021525"/>
                  </a:cubicBezTo>
                  <a:cubicBezTo>
                    <a:pt x="4419301" y="2025927"/>
                    <a:pt x="4413331" y="2028400"/>
                    <a:pt x="4407106" y="2028400"/>
                  </a:cubicBezTo>
                  <a:lnTo>
                    <a:pt x="23471" y="2028400"/>
                  </a:lnTo>
                  <a:cubicBezTo>
                    <a:pt x="17246" y="2028400"/>
                    <a:pt x="11276" y="2025927"/>
                    <a:pt x="6875" y="2021525"/>
                  </a:cubicBezTo>
                  <a:cubicBezTo>
                    <a:pt x="2473" y="2017124"/>
                    <a:pt x="0" y="2011154"/>
                    <a:pt x="0" y="2004929"/>
                  </a:cubicBezTo>
                  <a:lnTo>
                    <a:pt x="0" y="23471"/>
                  </a:lnTo>
                  <a:cubicBezTo>
                    <a:pt x="0" y="17246"/>
                    <a:pt x="2473" y="11276"/>
                    <a:pt x="6875" y="6875"/>
                  </a:cubicBezTo>
                  <a:cubicBezTo>
                    <a:pt x="11276" y="2473"/>
                    <a:pt x="17246" y="0"/>
                    <a:pt x="23471" y="0"/>
                  </a:cubicBezTo>
                  <a:close/>
                </a:path>
              </a:pathLst>
            </a:custGeom>
            <a:ln w="76200" cap="rnd">
              <a:solidFill>
                <a:srgbClr val="50BA9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430577" cy="206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888510" y="5759025"/>
            <a:ext cx="14510981" cy="864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3"/>
              </a:lnSpc>
            </a:pPr>
            <a:r>
              <a:rPr lang="en-US" sz="349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SOLUTION CONCEPT - MINDBRIDGE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3370" y="1232869"/>
            <a:ext cx="16921261" cy="83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3"/>
              </a:lnSpc>
            </a:pPr>
            <a:r>
              <a:rPr lang="en-US" b="true" sz="3406">
                <a:solidFill>
                  <a:srgbClr val="50BA9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RAPID ESTIMATION: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16121" y="1693533"/>
            <a:ext cx="4941809" cy="403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8"/>
              </a:lnSpc>
            </a:pPr>
            <a:r>
              <a:rPr lang="en-US" sz="3064" u="sng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REQUIREMENT</a:t>
            </a:r>
          </a:p>
          <a:p>
            <a:pPr algn="l">
              <a:lnSpc>
                <a:spcPts val="4328"/>
              </a:lnSpc>
            </a:pPr>
            <a:r>
              <a:rPr lang="en-US" sz="216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👥 Development Team</a:t>
            </a:r>
          </a:p>
          <a:p>
            <a:pPr algn="l">
              <a:lnSpc>
                <a:spcPts val="4328"/>
              </a:lnSpc>
            </a:pPr>
            <a:r>
              <a:rPr lang="en-US" sz="216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⏱️ Development Time</a:t>
            </a:r>
          </a:p>
          <a:p>
            <a:pPr algn="l">
              <a:lnSpc>
                <a:spcPts val="4328"/>
              </a:lnSpc>
            </a:pPr>
            <a:r>
              <a:rPr lang="en-US" sz="216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🧪 Testing</a:t>
            </a:r>
          </a:p>
          <a:p>
            <a:pPr algn="l">
              <a:lnSpc>
                <a:spcPts val="4328"/>
              </a:lnSpc>
            </a:pPr>
            <a:r>
              <a:rPr lang="en-US" sz="216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🏫 Initial Deployment</a:t>
            </a:r>
          </a:p>
          <a:p>
            <a:pPr algn="l">
              <a:lnSpc>
                <a:spcPts val="4328"/>
              </a:lnSpc>
            </a:pPr>
            <a:r>
              <a:rPr lang="en-US" sz="216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💰 Estimated MVP Cost</a:t>
            </a:r>
          </a:p>
          <a:p>
            <a:pPr algn="ctr">
              <a:lnSpc>
                <a:spcPts val="4328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157930" y="1782210"/>
            <a:ext cx="4941809" cy="410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8"/>
              </a:lnSpc>
            </a:pPr>
            <a:r>
              <a:rPr lang="en-US" sz="3064" u="sng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ESTIMATE</a:t>
            </a:r>
          </a:p>
          <a:p>
            <a:pPr algn="l">
              <a:lnSpc>
                <a:spcPts val="4320"/>
              </a:lnSpc>
            </a:pPr>
            <a:r>
              <a:rPr lang="en-US" sz="216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4–5 members</a:t>
            </a:r>
          </a:p>
          <a:p>
            <a:pPr algn="l">
              <a:lnSpc>
                <a:spcPts val="4320"/>
              </a:lnSpc>
            </a:pPr>
            <a:r>
              <a:rPr lang="en-US" sz="216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6–8 weeks</a:t>
            </a:r>
          </a:p>
          <a:p>
            <a:pPr algn="l">
              <a:lnSpc>
                <a:spcPts val="4320"/>
              </a:lnSpc>
            </a:pPr>
            <a:r>
              <a:rPr lang="en-US" sz="216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30–50 students</a:t>
            </a:r>
          </a:p>
          <a:p>
            <a:pPr algn="l">
              <a:lnSpc>
                <a:spcPts val="4320"/>
              </a:lnSpc>
            </a:pPr>
            <a:r>
              <a:rPr lang="en-US" sz="216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One college</a:t>
            </a:r>
          </a:p>
          <a:p>
            <a:pPr algn="l">
              <a:lnSpc>
                <a:spcPts val="4320"/>
              </a:lnSpc>
            </a:pPr>
            <a:r>
              <a:rPr lang="en-US" sz="216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₹30,000–₹40,000</a:t>
            </a:r>
          </a:p>
          <a:p>
            <a:pPr algn="ctr">
              <a:lnSpc>
                <a:spcPts val="4928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58509" y="6851625"/>
            <a:ext cx="16546121" cy="240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0"/>
              </a:lnSpc>
            </a:pPr>
            <a:r>
              <a:rPr lang="en-US" sz="2591" u="sng">
                <a:solidFill>
                  <a:srgbClr val="50BA9E"/>
                </a:solidFill>
                <a:latin typeface="Codec Pro"/>
                <a:ea typeface="Codec Pro"/>
                <a:cs typeface="Codec Pro"/>
                <a:sym typeface="Codec Pro"/>
              </a:rPr>
              <a:t>A student-friendly digital platform that provides:</a:t>
            </a:r>
          </a:p>
          <a:p>
            <a:pPr algn="ctr">
              <a:lnSpc>
                <a:spcPts val="3810"/>
              </a:lnSpc>
            </a:pPr>
            <a:r>
              <a:rPr lang="en-US" sz="259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Check-in → Self-Help → Peer Support → Counselling → Emergency Resources</a:t>
            </a:r>
          </a:p>
          <a:p>
            <a:pPr algn="ctr">
              <a:lnSpc>
                <a:spcPts val="3810"/>
              </a:lnSpc>
            </a:pPr>
            <a:r>
              <a:rPr lang="en-US" sz="2591" u="sng">
                <a:solidFill>
                  <a:srgbClr val="50BA9E"/>
                </a:solidFill>
                <a:latin typeface="Codec Pro"/>
                <a:ea typeface="Codec Pro"/>
                <a:cs typeface="Codec Pro"/>
                <a:sym typeface="Codec Pro"/>
              </a:rPr>
              <a:t>Core Goal</a:t>
            </a:r>
          </a:p>
          <a:p>
            <a:pPr algn="ctr">
              <a:lnSpc>
                <a:spcPts val="3810"/>
              </a:lnSpc>
            </a:pPr>
            <a:r>
              <a:rPr lang="en-US" sz="259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Make mental-health support easier to access, understand and navigate.</a:t>
            </a:r>
          </a:p>
          <a:p>
            <a:pPr algn="ctr">
              <a:lnSpc>
                <a:spcPts val="381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2839" y="2447110"/>
            <a:ext cx="8263898" cy="4680314"/>
          </a:xfrm>
          <a:custGeom>
            <a:avLst/>
            <a:gdLst/>
            <a:ahLst/>
            <a:cxnLst/>
            <a:rect r="r" b="b" t="t" l="l"/>
            <a:pathLst>
              <a:path h="4680314" w="8263898">
                <a:moveTo>
                  <a:pt x="0" y="0"/>
                </a:moveTo>
                <a:lnTo>
                  <a:pt x="8263898" y="0"/>
                </a:lnTo>
                <a:lnTo>
                  <a:pt x="8263898" y="4680314"/>
                </a:lnTo>
                <a:lnTo>
                  <a:pt x="0" y="46803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12690" y="2447110"/>
            <a:ext cx="8477488" cy="4626673"/>
          </a:xfrm>
          <a:custGeom>
            <a:avLst/>
            <a:gdLst/>
            <a:ahLst/>
            <a:cxnLst/>
            <a:rect r="r" b="b" t="t" l="l"/>
            <a:pathLst>
              <a:path h="4626673" w="8477488">
                <a:moveTo>
                  <a:pt x="0" y="0"/>
                </a:moveTo>
                <a:lnTo>
                  <a:pt x="8477488" y="0"/>
                </a:lnTo>
                <a:lnTo>
                  <a:pt x="8477488" y="4626673"/>
                </a:lnTo>
                <a:lnTo>
                  <a:pt x="0" y="46266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02852" y="414766"/>
            <a:ext cx="12019677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6000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rough prototype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93349" y="7104989"/>
            <a:ext cx="3532137" cy="81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3"/>
              </a:lnSpc>
            </a:pPr>
            <a:r>
              <a:rPr lang="en-US" sz="3306">
                <a:solidFill>
                  <a:srgbClr val="50BA9E"/>
                </a:solidFill>
                <a:latin typeface="Codec Pro"/>
                <a:ea typeface="Codec Pro"/>
                <a:cs typeface="Codec Pro"/>
                <a:sym typeface="Codec Pro"/>
              </a:rPr>
              <a:t>Home Page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90392" y="7104989"/>
            <a:ext cx="3532137" cy="81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3"/>
              </a:lnSpc>
            </a:pPr>
            <a:r>
              <a:rPr lang="en-US" sz="3306">
                <a:solidFill>
                  <a:srgbClr val="50BA9E"/>
                </a:solidFill>
                <a:latin typeface="Codec Pro"/>
                <a:ea typeface="Codec Pro"/>
                <a:cs typeface="Codec Pro"/>
                <a:sym typeface="Codec Pro"/>
              </a:rPr>
              <a:t>Check-in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0531" y="262091"/>
            <a:ext cx="17803775" cy="9695472"/>
            <a:chOff x="0" y="0"/>
            <a:chExt cx="4689060" cy="25535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89060" cy="2553540"/>
            </a:xfrm>
            <a:custGeom>
              <a:avLst/>
              <a:gdLst/>
              <a:ahLst/>
              <a:cxnLst/>
              <a:rect r="r" b="b" t="t" l="l"/>
              <a:pathLst>
                <a:path h="2553540" w="4689060">
                  <a:moveTo>
                    <a:pt x="22177" y="0"/>
                  </a:moveTo>
                  <a:lnTo>
                    <a:pt x="4666883" y="0"/>
                  </a:lnTo>
                  <a:cubicBezTo>
                    <a:pt x="4679131" y="0"/>
                    <a:pt x="4689060" y="9929"/>
                    <a:pt x="4689060" y="22177"/>
                  </a:cubicBezTo>
                  <a:lnTo>
                    <a:pt x="4689060" y="2531363"/>
                  </a:lnTo>
                  <a:cubicBezTo>
                    <a:pt x="4689060" y="2543611"/>
                    <a:pt x="4679131" y="2553540"/>
                    <a:pt x="4666883" y="2553540"/>
                  </a:cubicBezTo>
                  <a:lnTo>
                    <a:pt x="22177" y="2553540"/>
                  </a:lnTo>
                  <a:cubicBezTo>
                    <a:pt x="9929" y="2553540"/>
                    <a:pt x="0" y="2543611"/>
                    <a:pt x="0" y="2531363"/>
                  </a:cubicBezTo>
                  <a:lnTo>
                    <a:pt x="0" y="22177"/>
                  </a:lnTo>
                  <a:cubicBezTo>
                    <a:pt x="0" y="9929"/>
                    <a:pt x="9929" y="0"/>
                    <a:pt x="22177" y="0"/>
                  </a:cubicBezTo>
                  <a:close/>
                </a:path>
              </a:pathLst>
            </a:custGeom>
            <a:solidFill>
              <a:srgbClr val="50BA9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689060" cy="2591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641859" y="4962892"/>
            <a:ext cx="7699347" cy="4433740"/>
          </a:xfrm>
          <a:custGeom>
            <a:avLst/>
            <a:gdLst/>
            <a:ahLst/>
            <a:cxnLst/>
            <a:rect r="r" b="b" t="t" l="l"/>
            <a:pathLst>
              <a:path h="4433740" w="7699347">
                <a:moveTo>
                  <a:pt x="0" y="0"/>
                </a:moveTo>
                <a:lnTo>
                  <a:pt x="7699347" y="0"/>
                </a:lnTo>
                <a:lnTo>
                  <a:pt x="7699347" y="4433740"/>
                </a:lnTo>
                <a:lnTo>
                  <a:pt x="0" y="44337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7729853" cy="4114800"/>
          </a:xfrm>
          <a:custGeom>
            <a:avLst/>
            <a:gdLst/>
            <a:ahLst/>
            <a:cxnLst/>
            <a:rect r="r" b="b" t="t" l="l"/>
            <a:pathLst>
              <a:path h="4114800" w="7729853">
                <a:moveTo>
                  <a:pt x="0" y="0"/>
                </a:moveTo>
                <a:lnTo>
                  <a:pt x="7729853" y="0"/>
                </a:lnTo>
                <a:lnTo>
                  <a:pt x="77298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819377" y="1946562"/>
            <a:ext cx="4293482" cy="985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4"/>
              </a:lnSpc>
            </a:pPr>
            <a:r>
              <a:rPr lang="en-US" sz="4082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RESOURCES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27018" y="5716990"/>
            <a:ext cx="4010823" cy="304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4"/>
              </a:lnSpc>
            </a:pPr>
            <a:r>
              <a:rPr lang="en-US" sz="4082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COUNSELLING/PROFESSIONAL SUPPORT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0665" y="539725"/>
            <a:ext cx="7123763" cy="3923849"/>
          </a:xfrm>
          <a:custGeom>
            <a:avLst/>
            <a:gdLst/>
            <a:ahLst/>
            <a:cxnLst/>
            <a:rect r="r" b="b" t="t" l="l"/>
            <a:pathLst>
              <a:path h="3923849" w="7123763">
                <a:moveTo>
                  <a:pt x="0" y="0"/>
                </a:moveTo>
                <a:lnTo>
                  <a:pt x="7123763" y="0"/>
                </a:lnTo>
                <a:lnTo>
                  <a:pt x="7123763" y="3923849"/>
                </a:lnTo>
                <a:lnTo>
                  <a:pt x="0" y="3923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48227" y="4901598"/>
            <a:ext cx="6763894" cy="4192590"/>
          </a:xfrm>
          <a:custGeom>
            <a:avLst/>
            <a:gdLst/>
            <a:ahLst/>
            <a:cxnLst/>
            <a:rect r="r" b="b" t="t" l="l"/>
            <a:pathLst>
              <a:path h="4192590" w="6763894">
                <a:moveTo>
                  <a:pt x="0" y="0"/>
                </a:moveTo>
                <a:lnTo>
                  <a:pt x="6763894" y="0"/>
                </a:lnTo>
                <a:lnTo>
                  <a:pt x="6763894" y="4192590"/>
                </a:lnTo>
                <a:lnTo>
                  <a:pt x="0" y="41925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48227" y="539725"/>
            <a:ext cx="6919484" cy="4312227"/>
          </a:xfrm>
          <a:custGeom>
            <a:avLst/>
            <a:gdLst/>
            <a:ahLst/>
            <a:cxnLst/>
            <a:rect r="r" b="b" t="t" l="l"/>
            <a:pathLst>
              <a:path h="4312227" w="6919484">
                <a:moveTo>
                  <a:pt x="0" y="0"/>
                </a:moveTo>
                <a:lnTo>
                  <a:pt x="6919485" y="0"/>
                </a:lnTo>
                <a:lnTo>
                  <a:pt x="6919485" y="4312227"/>
                </a:lnTo>
                <a:lnTo>
                  <a:pt x="0" y="43122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2234" y="4604733"/>
            <a:ext cx="6460626" cy="3963241"/>
          </a:xfrm>
          <a:custGeom>
            <a:avLst/>
            <a:gdLst/>
            <a:ahLst/>
            <a:cxnLst/>
            <a:rect r="r" b="b" t="t" l="l"/>
            <a:pathLst>
              <a:path h="3963241" w="6460626">
                <a:moveTo>
                  <a:pt x="0" y="0"/>
                </a:moveTo>
                <a:lnTo>
                  <a:pt x="6460625" y="0"/>
                </a:lnTo>
                <a:lnTo>
                  <a:pt x="6460625" y="3963241"/>
                </a:lnTo>
                <a:lnTo>
                  <a:pt x="0" y="39632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47094" y="8884638"/>
            <a:ext cx="4870905" cy="537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3"/>
              </a:lnSpc>
            </a:pPr>
            <a:r>
              <a:rPr lang="en-US" sz="2206" b="true">
                <a:solidFill>
                  <a:srgbClr val="50BA9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MOOD AND WELL-BEING TRACKER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60274" y="9212862"/>
            <a:ext cx="5939800" cy="537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3"/>
              </a:lnSpc>
            </a:pPr>
            <a:r>
              <a:rPr lang="en-US" sz="2206" b="true">
                <a:solidFill>
                  <a:srgbClr val="50BA9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ADDITIONAL FEATURES AND AI CHAT-BOT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9914" y="851368"/>
            <a:ext cx="17248171" cy="8584264"/>
            <a:chOff x="0" y="0"/>
            <a:chExt cx="4542728" cy="22608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2728" cy="2260876"/>
            </a:xfrm>
            <a:custGeom>
              <a:avLst/>
              <a:gdLst/>
              <a:ahLst/>
              <a:cxnLst/>
              <a:rect r="r" b="b" t="t" l="l"/>
              <a:pathLst>
                <a:path h="2260876" w="4542728">
                  <a:moveTo>
                    <a:pt x="22892" y="0"/>
                  </a:moveTo>
                  <a:lnTo>
                    <a:pt x="4519837" y="0"/>
                  </a:lnTo>
                  <a:cubicBezTo>
                    <a:pt x="4532479" y="0"/>
                    <a:pt x="4542728" y="10249"/>
                    <a:pt x="4542728" y="22892"/>
                  </a:cubicBezTo>
                  <a:lnTo>
                    <a:pt x="4542728" y="2237985"/>
                  </a:lnTo>
                  <a:cubicBezTo>
                    <a:pt x="4542728" y="2250627"/>
                    <a:pt x="4532479" y="2260876"/>
                    <a:pt x="4519837" y="2260876"/>
                  </a:cubicBezTo>
                  <a:lnTo>
                    <a:pt x="22892" y="2260876"/>
                  </a:lnTo>
                  <a:cubicBezTo>
                    <a:pt x="10249" y="2260876"/>
                    <a:pt x="0" y="2250627"/>
                    <a:pt x="0" y="2237985"/>
                  </a:cubicBezTo>
                  <a:lnTo>
                    <a:pt x="0" y="22892"/>
                  </a:lnTo>
                  <a:cubicBezTo>
                    <a:pt x="0" y="10249"/>
                    <a:pt x="10249" y="0"/>
                    <a:pt x="22892" y="0"/>
                  </a:cubicBezTo>
                  <a:close/>
                </a:path>
              </a:pathLst>
            </a:custGeom>
            <a:solidFill>
              <a:srgbClr val="50BA9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42728" cy="22989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586241" y="1009650"/>
            <a:ext cx="13115517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6000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website prototype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38137" y="3221346"/>
            <a:ext cx="12611726" cy="167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9"/>
              </a:lnSpc>
            </a:pPr>
            <a:r>
              <a:rPr lang="en-US" sz="333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https://www.figma.com/make/k8dSRPvF2LEexiFYt7oYoU/MindBridge-Mental-Health-Website?t=aQ2kyXUN8BastSGw-1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24831" y="1717100"/>
            <a:ext cx="1284456" cy="6852801"/>
            <a:chOff x="0" y="0"/>
            <a:chExt cx="338293" cy="18048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8293" cy="1804853"/>
            </a:xfrm>
            <a:custGeom>
              <a:avLst/>
              <a:gdLst/>
              <a:ahLst/>
              <a:cxnLst/>
              <a:rect r="r" b="b" t="t" l="l"/>
              <a:pathLst>
                <a:path h="1804853" w="338293">
                  <a:moveTo>
                    <a:pt x="169146" y="0"/>
                  </a:moveTo>
                  <a:lnTo>
                    <a:pt x="169146" y="0"/>
                  </a:lnTo>
                  <a:cubicBezTo>
                    <a:pt x="262564" y="0"/>
                    <a:pt x="338293" y="75729"/>
                    <a:pt x="338293" y="169146"/>
                  </a:cubicBezTo>
                  <a:lnTo>
                    <a:pt x="338293" y="1635707"/>
                  </a:lnTo>
                  <a:cubicBezTo>
                    <a:pt x="338293" y="1729124"/>
                    <a:pt x="262564" y="1804853"/>
                    <a:pt x="169146" y="1804853"/>
                  </a:cubicBezTo>
                  <a:lnTo>
                    <a:pt x="169146" y="1804853"/>
                  </a:lnTo>
                  <a:cubicBezTo>
                    <a:pt x="75729" y="1804853"/>
                    <a:pt x="0" y="1729124"/>
                    <a:pt x="0" y="1635707"/>
                  </a:cubicBezTo>
                  <a:lnTo>
                    <a:pt x="0" y="169146"/>
                  </a:lnTo>
                  <a:cubicBezTo>
                    <a:pt x="0" y="75729"/>
                    <a:pt x="75729" y="0"/>
                    <a:pt x="169146" y="0"/>
                  </a:cubicBezTo>
                  <a:close/>
                </a:path>
              </a:pathLst>
            </a:custGeom>
            <a:solidFill>
              <a:srgbClr val="50BA9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38293" cy="1842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12200" y="2806321"/>
            <a:ext cx="15253032" cy="834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4"/>
              </a:lnSpc>
            </a:pPr>
            <a:r>
              <a:rPr lang="en-US" sz="2945" u="sng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Expected Impact of MindBridge</a:t>
            </a:r>
          </a:p>
          <a:p>
            <a:pPr algn="just">
              <a:lnSpc>
                <a:spcPts val="3504"/>
              </a:lnSpc>
            </a:pPr>
            <a:r>
              <a:rPr lang="en-US" sz="294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🧠 Early Awareness</a:t>
            </a:r>
          </a:p>
          <a:p>
            <a:pPr algn="just">
              <a:lnSpc>
                <a:spcPts val="3504"/>
              </a:lnSpc>
            </a:pPr>
            <a:r>
              <a:rPr lang="en-US" sz="294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 Helps students recognize their emotional and mental-health needs.</a:t>
            </a:r>
          </a:p>
          <a:p>
            <a:pPr algn="just">
              <a:lnSpc>
                <a:spcPts val="3504"/>
              </a:lnSpc>
            </a:pPr>
            <a:r>
              <a:rPr lang="en-US" sz="294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🔒 Greater Privacy</a:t>
            </a:r>
          </a:p>
          <a:p>
            <a:pPr algn="just">
              <a:lnSpc>
                <a:spcPts val="3504"/>
              </a:lnSpc>
            </a:pPr>
            <a:r>
              <a:rPr lang="en-US" sz="294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 Provides a comfortable first step for students hesitant to seek help.</a:t>
            </a:r>
          </a:p>
          <a:p>
            <a:pPr algn="just">
              <a:lnSpc>
                <a:spcPts val="3504"/>
              </a:lnSpc>
            </a:pPr>
            <a:r>
              <a:rPr lang="en-US" sz="294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⚡ Easy Access</a:t>
            </a:r>
          </a:p>
          <a:p>
            <a:pPr algn="just">
              <a:lnSpc>
                <a:spcPts val="3504"/>
              </a:lnSpc>
            </a:pPr>
            <a:r>
              <a:rPr lang="en-US" sz="294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 Makes support and resources easier to find in one place.</a:t>
            </a:r>
          </a:p>
          <a:p>
            <a:pPr algn="just">
              <a:lnSpc>
                <a:spcPts val="3504"/>
              </a:lnSpc>
            </a:pPr>
            <a:r>
              <a:rPr lang="en-US" sz="294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🤝 Better Connection</a:t>
            </a:r>
          </a:p>
          <a:p>
            <a:pPr algn="just">
              <a:lnSpc>
                <a:spcPts val="3504"/>
              </a:lnSpc>
            </a:pPr>
            <a:r>
              <a:rPr lang="en-US" sz="294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 Links students with peer and professional support.</a:t>
            </a:r>
          </a:p>
          <a:p>
            <a:pPr algn="just">
              <a:lnSpc>
                <a:spcPts val="3504"/>
              </a:lnSpc>
            </a:pPr>
            <a:r>
              <a:rPr lang="en-US" sz="294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📚 Improved Well-being</a:t>
            </a:r>
          </a:p>
          <a:p>
            <a:pPr algn="just">
              <a:lnSpc>
                <a:spcPts val="3504"/>
              </a:lnSpc>
            </a:pPr>
            <a:r>
              <a:rPr lang="en-US" sz="294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 Can help students manage stress and maintain healthier academic routines.</a:t>
            </a:r>
          </a:p>
          <a:p>
            <a:pPr algn="ctr">
              <a:lnSpc>
                <a:spcPts val="3504"/>
              </a:lnSpc>
            </a:pPr>
          </a:p>
          <a:p>
            <a:pPr algn="ctr">
              <a:lnSpc>
                <a:spcPts val="3504"/>
              </a:lnSpc>
            </a:pPr>
            <a:r>
              <a:rPr lang="en-US" sz="2945" u="sng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Overall Impact</a:t>
            </a:r>
          </a:p>
          <a:p>
            <a:pPr algn="ctr">
              <a:lnSpc>
                <a:spcPts val="3504"/>
              </a:lnSpc>
            </a:pPr>
            <a:r>
              <a:rPr lang="en-US" sz="294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A simpler path from “I’m struggling” to “I know where to get help.”</a:t>
            </a:r>
          </a:p>
          <a:p>
            <a:pPr algn="just">
              <a:lnSpc>
                <a:spcPts val="3504"/>
              </a:lnSpc>
            </a:pPr>
          </a:p>
          <a:p>
            <a:pPr algn="just">
              <a:lnSpc>
                <a:spcPts val="3504"/>
              </a:lnSpc>
            </a:pPr>
          </a:p>
          <a:p>
            <a:pPr algn="just">
              <a:lnSpc>
                <a:spcPts val="3504"/>
              </a:lnSpc>
            </a:pPr>
          </a:p>
          <a:p>
            <a:pPr algn="just">
              <a:lnSpc>
                <a:spcPts val="3504"/>
              </a:lnSpc>
            </a:pPr>
          </a:p>
          <a:p>
            <a:pPr algn="just">
              <a:lnSpc>
                <a:spcPts val="350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412200" y="1030218"/>
            <a:ext cx="8350448" cy="1585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expected impact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24831" y="1717100"/>
            <a:ext cx="1284456" cy="6852801"/>
            <a:chOff x="0" y="0"/>
            <a:chExt cx="338293" cy="18048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8293" cy="1804853"/>
            </a:xfrm>
            <a:custGeom>
              <a:avLst/>
              <a:gdLst/>
              <a:ahLst/>
              <a:cxnLst/>
              <a:rect r="r" b="b" t="t" l="l"/>
              <a:pathLst>
                <a:path h="1804853" w="338293">
                  <a:moveTo>
                    <a:pt x="169146" y="0"/>
                  </a:moveTo>
                  <a:lnTo>
                    <a:pt x="169146" y="0"/>
                  </a:lnTo>
                  <a:cubicBezTo>
                    <a:pt x="262564" y="0"/>
                    <a:pt x="338293" y="75729"/>
                    <a:pt x="338293" y="169146"/>
                  </a:cubicBezTo>
                  <a:lnTo>
                    <a:pt x="338293" y="1635707"/>
                  </a:lnTo>
                  <a:cubicBezTo>
                    <a:pt x="338293" y="1729124"/>
                    <a:pt x="262564" y="1804853"/>
                    <a:pt x="169146" y="1804853"/>
                  </a:cubicBezTo>
                  <a:lnTo>
                    <a:pt x="169146" y="1804853"/>
                  </a:lnTo>
                  <a:cubicBezTo>
                    <a:pt x="75729" y="1804853"/>
                    <a:pt x="0" y="1729124"/>
                    <a:pt x="0" y="1635707"/>
                  </a:cubicBezTo>
                  <a:lnTo>
                    <a:pt x="0" y="169146"/>
                  </a:lnTo>
                  <a:cubicBezTo>
                    <a:pt x="0" y="75729"/>
                    <a:pt x="75729" y="0"/>
                    <a:pt x="169146" y="0"/>
                  </a:cubicBezTo>
                  <a:close/>
                </a:path>
              </a:pathLst>
            </a:custGeom>
            <a:solidFill>
              <a:srgbClr val="50BA9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38293" cy="1842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17484" y="3013707"/>
            <a:ext cx="15253032" cy="6547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9023" indent="-339511" lvl="1">
              <a:lnSpc>
                <a:spcPts val="3742"/>
              </a:lnSpc>
              <a:buFont typeface="Arial"/>
              <a:buChar char="•"/>
            </a:pPr>
            <a:r>
              <a:rPr lang="en-US" sz="314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Mental health is an important part of student success and well-being</a:t>
            </a:r>
          </a:p>
          <a:p>
            <a:pPr algn="just" marL="679023" indent="-339511" lvl="1">
              <a:lnSpc>
                <a:spcPts val="3742"/>
              </a:lnSpc>
              <a:buFont typeface="Arial"/>
              <a:buChar char="•"/>
            </a:pPr>
            <a:r>
              <a:rPr lang="en-US" sz="314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students need support that is accessible, private and easy to navigate.</a:t>
            </a:r>
          </a:p>
          <a:p>
            <a:pPr algn="just" marL="679023" indent="-339511" lvl="1">
              <a:lnSpc>
                <a:spcPts val="3742"/>
              </a:lnSpc>
              <a:buFont typeface="Arial"/>
              <a:buChar char="•"/>
            </a:pPr>
            <a:r>
              <a:rPr lang="en-US" sz="314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mindbridge brings check-ins, self-help resources and support connections into one platform.</a:t>
            </a:r>
          </a:p>
          <a:p>
            <a:pPr algn="just" marL="679023" indent="-339511" lvl="1">
              <a:lnSpc>
                <a:spcPts val="3742"/>
              </a:lnSpc>
              <a:buFont typeface="Arial"/>
              <a:buChar char="•"/>
            </a:pPr>
            <a:r>
              <a:rPr lang="en-US" sz="314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the system encourages students to recognize their needs and seek appropriate help early</a:t>
            </a:r>
          </a:p>
          <a:p>
            <a:pPr algn="just">
              <a:lnSpc>
                <a:spcPts val="3742"/>
              </a:lnSpc>
            </a:pPr>
          </a:p>
          <a:p>
            <a:pPr algn="just">
              <a:lnSpc>
                <a:spcPts val="3742"/>
              </a:lnSpc>
            </a:pPr>
          </a:p>
          <a:p>
            <a:pPr algn="ctr">
              <a:lnSpc>
                <a:spcPts val="3742"/>
              </a:lnSpc>
            </a:pPr>
            <a:r>
              <a:rPr lang="en-US" sz="3145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our vision</a:t>
            </a:r>
          </a:p>
          <a:p>
            <a:pPr algn="ctr">
              <a:lnSpc>
                <a:spcPts val="3742"/>
              </a:lnSpc>
            </a:pPr>
            <a:r>
              <a:rPr lang="en-US" sz="3145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“No student should feel alone when seeking support.”</a:t>
            </a:r>
          </a:p>
          <a:p>
            <a:pPr algn="just">
              <a:lnSpc>
                <a:spcPts val="3742"/>
              </a:lnSpc>
            </a:pPr>
          </a:p>
          <a:p>
            <a:pPr algn="just">
              <a:lnSpc>
                <a:spcPts val="3742"/>
              </a:lnSpc>
            </a:pPr>
          </a:p>
          <a:p>
            <a:pPr algn="just">
              <a:lnSpc>
                <a:spcPts val="3742"/>
              </a:lnSpc>
            </a:pPr>
          </a:p>
          <a:p>
            <a:pPr algn="just">
              <a:lnSpc>
                <a:spcPts val="374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698016" y="1030218"/>
            <a:ext cx="5778818" cy="1585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conclusion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20973" y="-429682"/>
            <a:ext cx="19129945" cy="5573182"/>
            <a:chOff x="0" y="0"/>
            <a:chExt cx="5038339" cy="14678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38339" cy="1467834"/>
            </a:xfrm>
            <a:custGeom>
              <a:avLst/>
              <a:gdLst/>
              <a:ahLst/>
              <a:cxnLst/>
              <a:rect r="r" b="b" t="t" l="l"/>
              <a:pathLst>
                <a:path h="1467834" w="5038339">
                  <a:moveTo>
                    <a:pt x="20640" y="0"/>
                  </a:moveTo>
                  <a:lnTo>
                    <a:pt x="5017700" y="0"/>
                  </a:lnTo>
                  <a:cubicBezTo>
                    <a:pt x="5029098" y="0"/>
                    <a:pt x="5038339" y="9241"/>
                    <a:pt x="5038339" y="20640"/>
                  </a:cubicBezTo>
                  <a:lnTo>
                    <a:pt x="5038339" y="1447194"/>
                  </a:lnTo>
                  <a:cubicBezTo>
                    <a:pt x="5038339" y="1458593"/>
                    <a:pt x="5029098" y="1467834"/>
                    <a:pt x="5017700" y="1467834"/>
                  </a:cubicBezTo>
                  <a:lnTo>
                    <a:pt x="20640" y="1467834"/>
                  </a:lnTo>
                  <a:cubicBezTo>
                    <a:pt x="9241" y="1467834"/>
                    <a:pt x="0" y="1458593"/>
                    <a:pt x="0" y="1447194"/>
                  </a:cubicBezTo>
                  <a:lnTo>
                    <a:pt x="0" y="20640"/>
                  </a:lnTo>
                  <a:cubicBezTo>
                    <a:pt x="0" y="9241"/>
                    <a:pt x="9241" y="0"/>
                    <a:pt x="20640" y="0"/>
                  </a:cubicBezTo>
                  <a:close/>
                </a:path>
              </a:pathLst>
            </a:custGeom>
            <a:solidFill>
              <a:srgbClr val="50BA9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38339" cy="1505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34161" y="2589784"/>
            <a:ext cx="12019677" cy="4591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68"/>
              </a:lnSpc>
            </a:pPr>
            <a:r>
              <a:rPr lang="en-US" sz="15099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Thank you </a:t>
            </a:r>
            <a:r>
              <a:rPr lang="en-US" sz="15099">
                <a:solidFill>
                  <a:srgbClr val="50BA9E"/>
                </a:solidFill>
                <a:latin typeface="Bobby Jones"/>
                <a:ea typeface="Bobby Jones"/>
                <a:cs typeface="Bobby Jones"/>
                <a:sym typeface="Bobby Jones"/>
              </a:rPr>
              <a:t>very much!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DAHTLXqcmKQ</dc:identifier>
  <dcterms:modified xsi:type="dcterms:W3CDTF">2011-08-01T06:04:30Z</dcterms:modified>
  <cp:revision>1</cp:revision>
  <dc:title>DTIE</dc:title>
</cp:coreProperties>
</file>